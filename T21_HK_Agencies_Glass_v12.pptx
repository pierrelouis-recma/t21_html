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5" r:id="rId2"/>
    <p:sldId id="278" r:id="rId3"/>
    <p:sldId id="262" r:id="rId4"/>
    <p:sldId id="266" r:id="rId5"/>
    <p:sldId id="267" r:id="rId6"/>
    <p:sldId id="276" r:id="rId7"/>
    <p:sldId id="280" r:id="rId8"/>
    <p:sldId id="281" r:id="rId9"/>
    <p:sldId id="282" r:id="rId10"/>
    <p:sldId id="283" r:id="rId11"/>
  </p:sldIdLst>
  <p:sldSz cx="7559675" cy="10439400"/>
  <p:notesSz cx="7315200" cy="96012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81" userDrawn="1">
          <p15:clr>
            <a:srgbClr val="A4A3A4"/>
          </p15:clr>
        </p15:guide>
        <p15:guide id="5" orient="horz" pos="703" userDrawn="1">
          <p15:clr>
            <a:srgbClr val="A4A3A4"/>
          </p15:clr>
        </p15:guide>
        <p15:guide id="6" orient="horz" pos="997" userDrawn="1">
          <p15:clr>
            <a:srgbClr val="A4A3A4"/>
          </p15:clr>
        </p15:guide>
        <p15:guide id="7" orient="horz" pos="612" userDrawn="1">
          <p15:clr>
            <a:srgbClr val="A4A3A4"/>
          </p15:clr>
        </p15:guide>
        <p15:guide id="8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CMA" initials="R" lastIdx="1" clrIdx="0">
    <p:extLst>
      <p:ext uri="{19B8F6BF-5375-455C-9EA6-DF929625EA0E}">
        <p15:presenceInfo xmlns:p15="http://schemas.microsoft.com/office/powerpoint/2012/main" userId="RECM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7AE"/>
    <a:srgbClr val="7FA89E"/>
    <a:srgbClr val="CC99FF"/>
    <a:srgbClr val="FFEADD"/>
    <a:srgbClr val="FFE699"/>
    <a:srgbClr val="E2F0D9"/>
    <a:srgbClr val="FFE4FF"/>
    <a:srgbClr val="A8C3BC"/>
    <a:srgbClr val="3A5E52"/>
    <a:srgbClr val="EDF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B62E3-0DA6-4825-BAC5-C36D42B44480}" v="67" dt="2026-04-20T08:53:23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3066" y="84"/>
      </p:cViewPr>
      <p:guideLst>
        <p:guide pos="2381"/>
        <p:guide orient="horz" pos="703"/>
        <p:guide orient="horz" pos="997"/>
        <p:guide orient="horz" pos="612"/>
        <p:guide pos="290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907"/>
    </p:cViewPr>
  </p:sorterViewPr>
  <p:notesViewPr>
    <p:cSldViewPr snapToGrid="0">
      <p:cViewPr varScale="1">
        <p:scale>
          <a:sx n="89" d="100"/>
          <a:sy n="89" d="100"/>
        </p:scale>
        <p:origin x="4496" y="176"/>
      </p:cViewPr>
      <p:guideLst>
        <p:guide orient="horz" pos="3025"/>
        <p:guide pos="230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166308349608038E-2"/>
          <c:y val="2.8769546868310229E-2"/>
          <c:w val="0.89559844419280188"/>
          <c:h val="0.845447502372921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OAV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BE5D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DDE-AB49-99A4-E3B7419E151D}"/>
              </c:ext>
            </c:extLst>
          </c:dPt>
          <c:dPt>
            <c:idx val="1"/>
            <c:invertIfNegative val="0"/>
            <c:bubble3D val="0"/>
            <c:spPr>
              <a:solidFill>
                <a:srgbClr val="FFE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DDE-AB49-99A4-E3B7419E151D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DE-AB49-99A4-E3B7419E151D}"/>
              </c:ext>
            </c:extLst>
          </c:dPt>
          <c:dPt>
            <c:idx val="3"/>
            <c:invertIfNegative val="0"/>
            <c:bubble3D val="0"/>
            <c:spPr>
              <a:solidFill>
                <a:srgbClr val="C5E1B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DDE-AB49-99A4-E3B7419E151D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DDE-AB49-99A4-E3B7419E151D}"/>
              </c:ext>
            </c:extLst>
          </c:dPt>
          <c:dPt>
            <c:idx val="5"/>
            <c:invertIfNegative val="0"/>
            <c:bubble3D val="0"/>
            <c:spPr>
              <a:solidFill>
                <a:srgbClr val="CC99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DDE-AB49-99A4-E3B7419E151D}"/>
              </c:ext>
            </c:extLst>
          </c:dPt>
          <c:dPt>
            <c:idx val="6"/>
            <c:invertIfNegative val="0"/>
            <c:bubble3D val="0"/>
            <c:spPr>
              <a:solidFill>
                <a:srgbClr val="FFC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25-4B36-9334-8585ED9FE14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1D2E940-0802-8F46-B2B5-B799CA7AFD6D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DDE-AB49-99A4-E3B7419E151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4A6AEA8D-33BB-6941-B90D-9AC1DBF599EA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DDE-AB49-99A4-E3B7419E151D}"/>
                </c:ext>
              </c:extLst>
            </c:dLbl>
            <c:dLbl>
              <c:idx val="4"/>
              <c:layout>
                <c:manualLayout>
                  <c:x val="-8.1718991898205195E-2"/>
                  <c:y val="-7.19125405775203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DDE-AB49-99A4-E3B7419E151D}"/>
                </c:ext>
              </c:extLst>
            </c:dLbl>
            <c:dLbl>
              <c:idx val="6"/>
              <c:layout>
                <c:manualLayout>
                  <c:x val="-9.45557689046439E-2"/>
                  <c:y val="7.1963510247168919E-3"/>
                </c:manualLayout>
              </c:layout>
              <c:tx>
                <c:rich>
                  <a:bodyPr/>
                  <a:lstStyle/>
                  <a:p>
                    <a:fld id="{91784C48-693B-4A02-836F-C2ED9B0BFD9F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3B25-4B36-9334-8585ED9FE1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60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Feuil1!$A$2:$A$8</c:f>
              <c:strCache>
                <c:ptCount val="7"/>
                <c:pt idx="0">
                  <c:v>Publicis Media Gr.</c:v>
                </c:pt>
                <c:pt idx="1">
                  <c:v>Omnicom Media</c:v>
                </c:pt>
                <c:pt idx="2">
                  <c:v>Omnicom Media Gr.</c:v>
                </c:pt>
                <c:pt idx="3">
                  <c:v>dentsu</c:v>
                </c:pt>
                <c:pt idx="4">
                  <c:v>Mediabrands IPG</c:v>
                </c:pt>
                <c:pt idx="5">
                  <c:v>Havas Media</c:v>
                </c:pt>
                <c:pt idx="6">
                  <c:v>WPP Media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77</c:v>
                </c:pt>
                <c:pt idx="1">
                  <c:v>36</c:v>
                </c:pt>
                <c:pt idx="2">
                  <c:v>23</c:v>
                </c:pt>
                <c:pt idx="3">
                  <c:v>20</c:v>
                </c:pt>
                <c:pt idx="4">
                  <c:v>13</c:v>
                </c:pt>
                <c:pt idx="5">
                  <c:v>2</c:v>
                </c:pt>
                <c:pt idx="6">
                  <c:v>-15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DDE-AB49-99A4-E3B7419E15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1"/>
        <c:overlap val="-100"/>
        <c:axId val="413025808"/>
        <c:axId val="413026200"/>
      </c:barChart>
      <c:catAx>
        <c:axId val="4130258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3026200"/>
        <c:crosses val="autoZero"/>
        <c:auto val="1"/>
        <c:lblAlgn val="ctr"/>
        <c:lblOffset val="700"/>
        <c:tickMarkSkip val="1"/>
        <c:noMultiLvlLbl val="0"/>
      </c:catAx>
      <c:valAx>
        <c:axId val="413026200"/>
        <c:scaling>
          <c:orientation val="minMax"/>
          <c:max val="85"/>
          <c:min val="-20"/>
        </c:scaling>
        <c:delete val="0"/>
        <c:axPos val="t"/>
        <c:majorGridlines>
          <c:spPr>
            <a:ln w="9525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fr-FR"/>
          </a:p>
        </c:txPr>
        <c:crossAx val="41302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485434821853512"/>
          <c:y val="8.9596972813139261E-3"/>
          <c:w val="0.73580544751338905"/>
          <c:h val="0.923703692860567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C99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DE-AB49-99A4-E3B7419E151D}"/>
              </c:ext>
            </c:extLst>
          </c:dPt>
          <c:dPt>
            <c:idx val="1"/>
            <c:invertIfNegative val="0"/>
            <c:bubble3D val="0"/>
            <c:spPr>
              <a:solidFill>
                <a:srgbClr val="E2F0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DDE-AB49-99A4-E3B7419E151D}"/>
              </c:ext>
            </c:extLst>
          </c:dPt>
          <c:dPt>
            <c:idx val="2"/>
            <c:invertIfNegative val="0"/>
            <c:bubble3D val="0"/>
            <c:spPr>
              <a:solidFill>
                <a:srgbClr val="FBE5D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DDE-AB49-99A4-E3B7419E151D}"/>
              </c:ext>
            </c:extLst>
          </c:dPt>
          <c:dPt>
            <c:idx val="3"/>
            <c:invertIfNegative val="0"/>
            <c:bubble3D val="0"/>
            <c:spPr>
              <a:solidFill>
                <a:srgbClr val="FFE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DDE-AB49-99A4-E3B7419E151D}"/>
              </c:ext>
            </c:extLst>
          </c:dPt>
          <c:dPt>
            <c:idx val="4"/>
            <c:invertIfNegative val="0"/>
            <c:bubble3D val="0"/>
            <c:spPr>
              <a:solidFill>
                <a:srgbClr val="E2F0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FD6-DC4F-BAC8-5C09C7463320}"/>
              </c:ext>
            </c:extLst>
          </c:dPt>
          <c:dPt>
            <c:idx val="5"/>
            <c:invertIfNegative val="0"/>
            <c:bubble3D val="0"/>
            <c:spPr>
              <a:solidFill>
                <a:srgbClr val="FBE5D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23F-4973-80CE-94304FF8B8C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Feuil1!$A$2:$A$7</c:f>
              <c:strCache>
                <c:ptCount val="6"/>
                <c:pt idx="0">
                  <c:v>Havas</c:v>
                </c:pt>
                <c:pt idx="1">
                  <c:v>Carat</c:v>
                </c:pt>
                <c:pt idx="2">
                  <c:v>Zenith</c:v>
                </c:pt>
                <c:pt idx="3">
                  <c:v>Hearts &amp; Science</c:v>
                </c:pt>
                <c:pt idx="4">
                  <c:v>dentsu X</c:v>
                </c:pt>
                <c:pt idx="5">
                  <c:v>Starcom</c:v>
                </c:pt>
              </c:strCache>
            </c:strRef>
          </c:cat>
          <c:val>
            <c:numRef>
              <c:f>Feuil1!$B$2:$B$7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12</c:v>
                </c:pt>
                <c:pt idx="3">
                  <c:v>13</c:v>
                </c:pt>
                <c:pt idx="4">
                  <c:v>46</c:v>
                </c:pt>
                <c:pt idx="5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DDE-AB49-99A4-E3B7419E15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100"/>
        <c:axId val="520819912"/>
        <c:axId val="520820696"/>
      </c:barChart>
      <c:catAx>
        <c:axId val="5208199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20820696"/>
        <c:crosses val="autoZero"/>
        <c:auto val="1"/>
        <c:lblAlgn val="ctr"/>
        <c:lblOffset val="50"/>
        <c:noMultiLvlLbl val="0"/>
      </c:catAx>
      <c:valAx>
        <c:axId val="520820696"/>
        <c:scaling>
          <c:orientation val="minMax"/>
          <c:max val="65"/>
          <c:min val="0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40000"/>
                  <a:lumOff val="60000"/>
                  <a:alpha val="64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defRPr>
            </a:pPr>
            <a:endParaRPr lang="fr-FR"/>
          </a:p>
        </c:txPr>
        <c:crossAx val="520819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>
          <a:lumMod val="20000"/>
          <a:lumOff val="80000"/>
        </a:schemeClr>
      </a:solidFill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432" cy="479754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143063" y="1"/>
            <a:ext cx="3170432" cy="479754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r">
              <a:defRPr sz="1200"/>
            </a:lvl1pPr>
          </a:lstStyle>
          <a:p>
            <a:fld id="{EB267E6B-737D-453A-A636-479712738079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119915"/>
            <a:ext cx="3170432" cy="479754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143063" y="9119915"/>
            <a:ext cx="3170432" cy="479754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r">
              <a:defRPr sz="1200"/>
            </a:lvl1pPr>
          </a:lstStyle>
          <a:p>
            <a:fld id="{9C231566-2957-453E-9639-F0BF614A8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779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170432" cy="481286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143063" y="2"/>
            <a:ext cx="3170432" cy="481286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r">
              <a:defRPr sz="1200"/>
            </a:lvl1pPr>
          </a:lstStyle>
          <a:p>
            <a:fld id="{8C5B3ABE-6535-429F-8E6C-91913F727081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484438" y="1200150"/>
            <a:ext cx="234632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8" tIns="45714" rIns="91428" bIns="45714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32033" y="4621268"/>
            <a:ext cx="5851136" cy="3779783"/>
          </a:xfrm>
          <a:prstGeom prst="rect">
            <a:avLst/>
          </a:prstGeom>
        </p:spPr>
        <p:txBody>
          <a:bodyPr vert="horz" lIns="91428" tIns="45714" rIns="91428" bIns="45714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119915"/>
            <a:ext cx="3170432" cy="481286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143063" y="9119915"/>
            <a:ext cx="3170432" cy="481286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r">
              <a:defRPr sz="1200"/>
            </a:lvl1pPr>
          </a:lstStyle>
          <a:p>
            <a:fld id="{47D707FA-3B65-40D6-AAC9-BA651F1C7C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64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55804"/>
            <a:ext cx="6520220" cy="2017801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8" y="2779007"/>
            <a:ext cx="6520220" cy="66237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46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01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4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hlinkClick r:id="rId2" action="ppaction://hlinksldjump"/>
            <a:extLst>
              <a:ext uri="{FF2B5EF4-FFF2-40B4-BE49-F238E27FC236}">
                <a16:creationId xmlns:a16="http://schemas.microsoft.com/office/drawing/2014/main" id="{87782FCB-205F-2393-7C38-225F198587CB}"/>
              </a:ext>
            </a:extLst>
          </p:cNvPr>
          <p:cNvSpPr/>
          <p:nvPr/>
        </p:nvSpPr>
        <p:spPr>
          <a:xfrm>
            <a:off x="2720000" y="1278965"/>
            <a:ext cx="4601176" cy="6860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PanelBg"/>
          <p:cNvSpPr/>
          <p:nvPr/>
        </p:nvSpPr>
        <p:spPr>
          <a:xfrm>
            <a:off x="0" y="675840"/>
            <a:ext cx="2450000" cy="976356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PanelLabel"/>
          <p:cNvSpPr txBox="1"/>
          <p:nvPr/>
        </p:nvSpPr>
        <p:spPr>
          <a:xfrm>
            <a:off x="150000" y="1050000"/>
            <a:ext cx="21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0" dirty="0">
                <a:solidFill>
                  <a:srgbClr val="CCD5D2"/>
                </a:solidFill>
                <a:latin typeface="Calibri"/>
              </a:rPr>
              <a:t>SOMMAIRE</a:t>
            </a:r>
          </a:p>
        </p:txBody>
      </p:sp>
      <p:sp>
        <p:nvSpPr>
          <p:cNvPr id="12" name="PanelLine1"/>
          <p:cNvSpPr>
            <a:spLocks noGrp="1"/>
          </p:cNvSpPr>
          <p:nvPr/>
        </p:nvSpPr>
        <p:spPr>
          <a:xfrm>
            <a:off x="380000" y="1420000"/>
            <a:ext cx="1700000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anelTitle1"/>
          <p:cNvSpPr txBox="1"/>
          <p:nvPr/>
        </p:nvSpPr>
        <p:spPr>
          <a:xfrm>
            <a:off x="150000" y="1560000"/>
            <a:ext cx="21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800" b="1" dirty="0">
                <a:solidFill>
                  <a:srgbClr val="FFFFFF"/>
                </a:solidFill>
                <a:latin typeface="Calibri"/>
              </a:rPr>
              <a:t>New Business</a:t>
            </a:r>
          </a:p>
        </p:txBody>
      </p:sp>
      <p:sp>
        <p:nvSpPr>
          <p:cNvPr id="14" name="PanelTitle2"/>
          <p:cNvSpPr txBox="1"/>
          <p:nvPr/>
        </p:nvSpPr>
        <p:spPr>
          <a:xfrm>
            <a:off x="150000" y="2170000"/>
            <a:ext cx="21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800" b="1" dirty="0">
                <a:solidFill>
                  <a:srgbClr val="CCD5D2"/>
                </a:solidFill>
                <a:latin typeface="Calibri"/>
              </a:rPr>
              <a:t>Balance</a:t>
            </a:r>
          </a:p>
        </p:txBody>
      </p:sp>
      <p:sp>
        <p:nvSpPr>
          <p:cNvPr id="15" name="PanelLine2"/>
          <p:cNvSpPr>
            <a:spLocks noGrp="1"/>
          </p:cNvSpPr>
          <p:nvPr/>
        </p:nvSpPr>
        <p:spPr>
          <a:xfrm>
            <a:off x="380000" y="2950000"/>
            <a:ext cx="1700000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PanelCity"/>
          <p:cNvSpPr txBox="1"/>
          <p:nvPr/>
        </p:nvSpPr>
        <p:spPr>
          <a:xfrm>
            <a:off x="150000" y="3100000"/>
            <a:ext cx="21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Hong Kong</a:t>
            </a:r>
          </a:p>
        </p:txBody>
      </p:sp>
      <p:sp>
        <p:nvSpPr>
          <p:cNvPr id="17" name="PanelDate"/>
          <p:cNvSpPr txBox="1"/>
          <p:nvPr/>
        </p:nvSpPr>
        <p:spPr>
          <a:xfrm>
            <a:off x="150000" y="3600000"/>
            <a:ext cx="21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0" dirty="0">
                <a:solidFill>
                  <a:srgbClr val="CCD5D2"/>
                </a:solidFill>
                <a:latin typeface="Calibri"/>
              </a:rPr>
              <a:t>September 2025</a:t>
            </a:r>
          </a:p>
        </p:txBody>
      </p:sp>
      <p:sp>
        <p:nvSpPr>
          <p:cNvPr id="18" name="Num1"/>
          <p:cNvSpPr txBox="1"/>
          <p:nvPr/>
        </p:nvSpPr>
        <p:spPr>
          <a:xfrm>
            <a:off x="2720000" y="133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01</a:t>
            </a:r>
          </a:p>
        </p:txBody>
      </p:sp>
      <p:sp>
        <p:nvSpPr>
          <p:cNvPr id="19" name="Bar1"/>
          <p:cNvSpPr/>
          <p:nvPr/>
        </p:nvSpPr>
        <p:spPr>
          <a:xfrm>
            <a:off x="3400000" y="141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itle1"/>
          <p:cNvSpPr txBox="1"/>
          <p:nvPr/>
        </p:nvSpPr>
        <p:spPr>
          <a:xfrm>
            <a:off x="3510000" y="133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Key Findings / Methodology / Perimeter</a:t>
            </a:r>
          </a:p>
        </p:txBody>
      </p:sp>
      <p:sp>
        <p:nvSpPr>
          <p:cNvPr id="21" name="Sep1"/>
          <p:cNvSpPr>
            <a:spLocks noGrp="1"/>
          </p:cNvSpPr>
          <p:nvPr/>
        </p:nvSpPr>
        <p:spPr>
          <a:xfrm>
            <a:off x="2700000" y="230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Num2"/>
          <p:cNvSpPr txBox="1"/>
          <p:nvPr/>
        </p:nvSpPr>
        <p:spPr>
          <a:xfrm>
            <a:off x="2720000" y="277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02</a:t>
            </a:r>
          </a:p>
        </p:txBody>
      </p:sp>
      <p:sp>
        <p:nvSpPr>
          <p:cNvPr id="23" name="Bar2"/>
          <p:cNvSpPr/>
          <p:nvPr/>
        </p:nvSpPr>
        <p:spPr>
          <a:xfrm>
            <a:off x="3400000" y="285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itle2"/>
          <p:cNvSpPr txBox="1"/>
          <p:nvPr/>
        </p:nvSpPr>
        <p:spPr>
          <a:xfrm>
            <a:off x="3510000" y="277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TOP moves 2025</a:t>
            </a:r>
          </a:p>
        </p:txBody>
      </p:sp>
      <p:sp>
        <p:nvSpPr>
          <p:cNvPr id="25" name="Sep2"/>
          <p:cNvSpPr>
            <a:spLocks noGrp="1"/>
          </p:cNvSpPr>
          <p:nvPr/>
        </p:nvSpPr>
        <p:spPr>
          <a:xfrm>
            <a:off x="2700000" y="374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Num3"/>
          <p:cNvSpPr txBox="1"/>
          <p:nvPr/>
        </p:nvSpPr>
        <p:spPr>
          <a:xfrm>
            <a:off x="2720000" y="421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03</a:t>
            </a:r>
          </a:p>
        </p:txBody>
      </p:sp>
      <p:sp>
        <p:nvSpPr>
          <p:cNvPr id="27" name="Bar3"/>
          <p:cNvSpPr/>
          <p:nvPr/>
        </p:nvSpPr>
        <p:spPr>
          <a:xfrm>
            <a:off x="3400000" y="429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itle3"/>
          <p:cNvSpPr txBox="1"/>
          <p:nvPr/>
        </p:nvSpPr>
        <p:spPr>
          <a:xfrm>
            <a:off x="3510000" y="421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New biz Balance overview by agency</a:t>
            </a:r>
          </a:p>
        </p:txBody>
      </p:sp>
      <p:sp>
        <p:nvSpPr>
          <p:cNvPr id="29" name="Sep3"/>
          <p:cNvSpPr>
            <a:spLocks noGrp="1"/>
          </p:cNvSpPr>
          <p:nvPr/>
        </p:nvSpPr>
        <p:spPr>
          <a:xfrm>
            <a:off x="2700000" y="518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Num4"/>
          <p:cNvSpPr txBox="1"/>
          <p:nvPr/>
        </p:nvSpPr>
        <p:spPr>
          <a:xfrm>
            <a:off x="2720000" y="565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04</a:t>
            </a:r>
          </a:p>
        </p:txBody>
      </p:sp>
      <p:sp>
        <p:nvSpPr>
          <p:cNvPr id="31" name="Bar4"/>
          <p:cNvSpPr/>
          <p:nvPr/>
        </p:nvSpPr>
        <p:spPr>
          <a:xfrm>
            <a:off x="3400000" y="573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itle4"/>
          <p:cNvSpPr txBox="1"/>
          <p:nvPr/>
        </p:nvSpPr>
        <p:spPr>
          <a:xfrm>
            <a:off x="3510000" y="565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New biz Balance overview by Group</a:t>
            </a:r>
          </a:p>
        </p:txBody>
      </p:sp>
      <p:sp>
        <p:nvSpPr>
          <p:cNvPr id="33" name="Sep4"/>
          <p:cNvSpPr>
            <a:spLocks noGrp="1"/>
          </p:cNvSpPr>
          <p:nvPr/>
        </p:nvSpPr>
        <p:spPr>
          <a:xfrm>
            <a:off x="2700000" y="662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Num5"/>
          <p:cNvSpPr txBox="1"/>
          <p:nvPr/>
        </p:nvSpPr>
        <p:spPr>
          <a:xfrm>
            <a:off x="2720000" y="709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05</a:t>
            </a:r>
          </a:p>
        </p:txBody>
      </p:sp>
      <p:sp>
        <p:nvSpPr>
          <p:cNvPr id="35" name="Bar5"/>
          <p:cNvSpPr/>
          <p:nvPr/>
        </p:nvSpPr>
        <p:spPr>
          <a:xfrm>
            <a:off x="3400000" y="717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itle5"/>
          <p:cNvSpPr txBox="1"/>
          <p:nvPr/>
        </p:nvSpPr>
        <p:spPr>
          <a:xfrm>
            <a:off x="3510000" y="709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Retentions ranking by agency</a:t>
            </a:r>
          </a:p>
        </p:txBody>
      </p:sp>
      <p:sp>
        <p:nvSpPr>
          <p:cNvPr id="37" name="Sep5"/>
          <p:cNvSpPr>
            <a:spLocks noGrp="1"/>
          </p:cNvSpPr>
          <p:nvPr/>
        </p:nvSpPr>
        <p:spPr>
          <a:xfrm>
            <a:off x="2700000" y="806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Num6"/>
          <p:cNvSpPr txBox="1"/>
          <p:nvPr/>
        </p:nvSpPr>
        <p:spPr>
          <a:xfrm>
            <a:off x="2720000" y="853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06</a:t>
            </a:r>
          </a:p>
        </p:txBody>
      </p:sp>
      <p:sp>
        <p:nvSpPr>
          <p:cNvPr id="39" name="Bar6"/>
          <p:cNvSpPr/>
          <p:nvPr/>
        </p:nvSpPr>
        <p:spPr>
          <a:xfrm>
            <a:off x="3400000" y="861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itle6"/>
          <p:cNvSpPr txBox="1"/>
          <p:nvPr/>
        </p:nvSpPr>
        <p:spPr>
          <a:xfrm>
            <a:off x="3510000" y="853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NBB 2025 details by agency</a:t>
            </a:r>
          </a:p>
        </p:txBody>
      </p:sp>
      <p:sp>
        <p:nvSpPr>
          <p:cNvPr id="3" name="Rectangle : coins arrondis 2">
            <a:hlinkClick r:id="rId3" action="ppaction://hlinksldjump"/>
            <a:extLst>
              <a:ext uri="{FF2B5EF4-FFF2-40B4-BE49-F238E27FC236}">
                <a16:creationId xmlns:a16="http://schemas.microsoft.com/office/drawing/2014/main" id="{70F7F403-1C8B-6E20-2BD3-A62D6AB4DB74}"/>
              </a:ext>
            </a:extLst>
          </p:cNvPr>
          <p:cNvSpPr/>
          <p:nvPr/>
        </p:nvSpPr>
        <p:spPr>
          <a:xfrm>
            <a:off x="2700000" y="2528047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hlinkClick r:id="rId4" action="ppaction://hlinksldjump"/>
            <a:extLst>
              <a:ext uri="{FF2B5EF4-FFF2-40B4-BE49-F238E27FC236}">
                <a16:creationId xmlns:a16="http://schemas.microsoft.com/office/drawing/2014/main" id="{5111A6E0-009E-0C98-CD81-15955D017F6B}"/>
              </a:ext>
            </a:extLst>
          </p:cNvPr>
          <p:cNvSpPr/>
          <p:nvPr/>
        </p:nvSpPr>
        <p:spPr>
          <a:xfrm>
            <a:off x="2700000" y="4018364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hlinkClick r:id="rId5" action="ppaction://hlinksldjump"/>
            <a:extLst>
              <a:ext uri="{FF2B5EF4-FFF2-40B4-BE49-F238E27FC236}">
                <a16:creationId xmlns:a16="http://schemas.microsoft.com/office/drawing/2014/main" id="{A74C022A-340E-DBF9-786A-D6DC159C54B4}"/>
              </a:ext>
            </a:extLst>
          </p:cNvPr>
          <p:cNvSpPr/>
          <p:nvPr/>
        </p:nvSpPr>
        <p:spPr>
          <a:xfrm>
            <a:off x="2700000" y="5444195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hlinkClick r:id="rId6" action="ppaction://hlinksldjump"/>
            <a:extLst>
              <a:ext uri="{FF2B5EF4-FFF2-40B4-BE49-F238E27FC236}">
                <a16:creationId xmlns:a16="http://schemas.microsoft.com/office/drawing/2014/main" id="{CF47E754-06D4-07B3-C2DB-9F49AC25B980}"/>
              </a:ext>
            </a:extLst>
          </p:cNvPr>
          <p:cNvSpPr/>
          <p:nvPr/>
        </p:nvSpPr>
        <p:spPr>
          <a:xfrm>
            <a:off x="2640000" y="6887501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hlinkClick r:id="rId7" action="ppaction://hlinksldjump"/>
            <a:extLst>
              <a:ext uri="{FF2B5EF4-FFF2-40B4-BE49-F238E27FC236}">
                <a16:creationId xmlns:a16="http://schemas.microsoft.com/office/drawing/2014/main" id="{003ADE7F-FA3E-67C8-EEFD-A0F88DCA7DE0}"/>
              </a:ext>
            </a:extLst>
          </p:cNvPr>
          <p:cNvSpPr/>
          <p:nvPr/>
        </p:nvSpPr>
        <p:spPr>
          <a:xfrm>
            <a:off x="2700000" y="8377818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7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8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09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10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11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12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13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14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15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6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7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8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19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0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1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2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3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4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5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6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7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8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9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3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3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4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4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4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4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4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4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4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4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6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7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58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59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60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61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62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63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92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193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4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195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6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7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98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99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19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0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1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22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23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24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25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26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27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28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29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30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31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32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33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4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5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6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7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8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9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0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41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42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43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44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45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46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47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4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4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50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51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5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3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5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6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7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8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9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60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61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62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63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64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65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66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67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68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69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70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71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72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73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4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5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7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8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8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8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8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8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8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8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8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8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8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9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1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3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4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5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6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7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98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99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300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301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302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303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04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05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06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07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08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09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0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2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1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31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31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32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32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32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2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2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2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2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2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D00E230-C215-6DF4-0C09-FD0DC618A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924760"/>
              </p:ext>
            </p:extLst>
          </p:nvPr>
        </p:nvGraphicFramePr>
        <p:xfrm>
          <a:off x="354842" y="1403350"/>
          <a:ext cx="6740371" cy="2711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0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40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Perimeter</a:t>
                      </a:r>
                      <a:r>
                        <a:rPr kumimoji="0" lang="en-US" sz="1800" b="0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Methodology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5618"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The </a:t>
                      </a:r>
                      <a:r>
                        <a:rPr lang="fr-FR" sz="1000" dirty="0" err="1"/>
                        <a:t>perimeter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studied</a:t>
                      </a:r>
                      <a:r>
                        <a:rPr lang="fr-FR" sz="1000" dirty="0"/>
                        <a:t> by RECMA </a:t>
                      </a:r>
                      <a:r>
                        <a:rPr lang="fr-FR" sz="1000" dirty="0" err="1"/>
                        <a:t>includes</a:t>
                      </a:r>
                      <a:r>
                        <a:rPr lang="fr-FR" sz="1000" dirty="0"/>
                        <a:t> the 5 international media groups.</a:t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dirty="0"/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Moves are </a:t>
                      </a:r>
                      <a:r>
                        <a:rPr lang="fr-FR" sz="1000" dirty="0" err="1"/>
                        <a:t>considered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based</a:t>
                      </a:r>
                      <a:r>
                        <a:rPr lang="fr-FR" sz="1000" dirty="0"/>
                        <a:t> on </a:t>
                      </a:r>
                      <a:r>
                        <a:rPr lang="fr-FR" sz="1000" dirty="0" err="1"/>
                        <a:t>their</a:t>
                      </a:r>
                      <a:r>
                        <a:rPr lang="fr-FR" sz="1000" dirty="0"/>
                        <a:t> </a:t>
                      </a:r>
                      <a:r>
                        <a:rPr lang="fr-FR" sz="1000" b="1" dirty="0"/>
                        <a:t>date of </a:t>
                      </a:r>
                      <a:r>
                        <a:rPr lang="fr-FR" sz="1000" b="1" dirty="0" err="1"/>
                        <a:t>announcement</a:t>
                      </a:r>
                      <a:r>
                        <a:rPr lang="fr-FR" sz="1000" dirty="0"/>
                        <a:t>. </a:t>
                      </a:r>
                      <a:r>
                        <a:rPr lang="fr-FR" sz="1000" dirty="0" err="1"/>
                        <a:t>We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registered</a:t>
                      </a:r>
                      <a:r>
                        <a:rPr lang="fr-FR" sz="1000" dirty="0"/>
                        <a:t> all </a:t>
                      </a:r>
                      <a:r>
                        <a:rPr lang="fr-FR" sz="1000" b="1" dirty="0" err="1"/>
                        <a:t>classical</a:t>
                      </a:r>
                      <a:r>
                        <a:rPr lang="fr-FR" sz="1000" b="1" dirty="0"/>
                        <a:t> media </a:t>
                      </a:r>
                      <a:r>
                        <a:rPr lang="fr-FR" sz="1000" b="1" dirty="0" err="1"/>
                        <a:t>assignments</a:t>
                      </a:r>
                      <a:r>
                        <a:rPr lang="fr-FR" sz="1000" dirty="0"/>
                        <a:t> (incl. planning, </a:t>
                      </a:r>
                      <a:r>
                        <a:rPr lang="fr-FR" sz="1000" dirty="0" err="1"/>
                        <a:t>buying</a:t>
                      </a:r>
                      <a:r>
                        <a:rPr lang="fr-FR" sz="1000" dirty="0"/>
                        <a:t>, </a:t>
                      </a:r>
                      <a:r>
                        <a:rPr lang="fr-FR" sz="1000" dirty="0" err="1"/>
                        <a:t>strategic</a:t>
                      </a:r>
                      <a:r>
                        <a:rPr lang="fr-FR" sz="1000" dirty="0"/>
                        <a:t> planning for all or </a:t>
                      </a:r>
                      <a:r>
                        <a:rPr lang="fr-FR" sz="1000" dirty="0" err="1"/>
                        <a:t>only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selected</a:t>
                      </a:r>
                      <a:r>
                        <a:rPr lang="fr-FR" sz="1000" dirty="0"/>
                        <a:t> media) as </a:t>
                      </a:r>
                      <a:r>
                        <a:rPr lang="fr-FR" sz="1000" dirty="0" err="1"/>
                        <a:t>well</a:t>
                      </a:r>
                      <a:r>
                        <a:rPr lang="fr-FR" sz="1000" dirty="0"/>
                        <a:t> as </a:t>
                      </a:r>
                      <a:r>
                        <a:rPr lang="fr-FR" sz="1000" b="1" dirty="0"/>
                        <a:t>digital</a:t>
                      </a:r>
                      <a:r>
                        <a:rPr lang="fr-FR" sz="1000" dirty="0"/>
                        <a:t> or </a:t>
                      </a:r>
                      <a:r>
                        <a:rPr lang="fr-FR" sz="1000" b="1" dirty="0" err="1"/>
                        <a:t>other</a:t>
                      </a:r>
                      <a:r>
                        <a:rPr lang="fr-FR" sz="1000" b="1" dirty="0"/>
                        <a:t> </a:t>
                      </a:r>
                      <a:r>
                        <a:rPr lang="fr-FR" sz="1000" b="1" dirty="0" err="1"/>
                        <a:t>specialized</a:t>
                      </a:r>
                      <a:r>
                        <a:rPr lang="fr-FR" sz="1000" b="1" dirty="0"/>
                        <a:t> services </a:t>
                      </a:r>
                      <a:r>
                        <a:rPr lang="fr-FR" sz="1000" b="1" dirty="0" err="1"/>
                        <a:t>assignments</a:t>
                      </a:r>
                      <a:r>
                        <a:rPr lang="fr-FR" sz="1000" dirty="0"/>
                        <a:t>. </a:t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dirty="0"/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 err="1"/>
                        <a:t>Spends</a:t>
                      </a:r>
                      <a:r>
                        <a:rPr lang="fr-FR" sz="1000" dirty="0"/>
                        <a:t> are in </a:t>
                      </a:r>
                      <a:r>
                        <a:rPr lang="fr-FR" sz="1000" b="1" dirty="0"/>
                        <a:t>Integrated </a:t>
                      </a:r>
                      <a:r>
                        <a:rPr lang="fr-FR" sz="1000" b="1" dirty="0" err="1"/>
                        <a:t>Spendings</a:t>
                      </a:r>
                      <a:r>
                        <a:rPr lang="fr-FR" sz="1000" b="1" dirty="0"/>
                        <a:t> </a:t>
                      </a:r>
                      <a:r>
                        <a:rPr lang="fr-FR" sz="1000" dirty="0"/>
                        <a:t>incl. non-</a:t>
                      </a:r>
                      <a:r>
                        <a:rPr lang="fr-FR" sz="1000" dirty="0" err="1"/>
                        <a:t>traditional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activity</a:t>
                      </a:r>
                      <a:r>
                        <a:rPr lang="fr-FR" sz="1000" dirty="0"/>
                        <a:t> (digital, data, content)</a:t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The </a:t>
                      </a:r>
                      <a:r>
                        <a:rPr lang="fr-FR" sz="1000" dirty="0" err="1"/>
                        <a:t>newbiz</a:t>
                      </a:r>
                      <a:r>
                        <a:rPr lang="fr-FR" sz="1000" dirty="0"/>
                        <a:t> balance </a:t>
                      </a:r>
                      <a:r>
                        <a:rPr lang="fr-FR" sz="1000" dirty="0" err="1"/>
                        <a:t>ranking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is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focusing</a:t>
                      </a:r>
                      <a:r>
                        <a:rPr lang="fr-FR" sz="1000" dirty="0"/>
                        <a:t> on </a:t>
                      </a:r>
                      <a:r>
                        <a:rPr lang="fr-FR" sz="1000" b="1" dirty="0"/>
                        <a:t>Net New </a:t>
                      </a:r>
                      <a:r>
                        <a:rPr lang="fr-FR" sz="1000" b="1" dirty="0" err="1"/>
                        <a:t>Biz</a:t>
                      </a:r>
                      <a:r>
                        <a:rPr lang="fr-FR" sz="1000" b="1" dirty="0"/>
                        <a:t> </a:t>
                      </a:r>
                      <a:r>
                        <a:rPr lang="fr-FR" sz="1000" dirty="0"/>
                        <a:t>and </a:t>
                      </a:r>
                      <a:r>
                        <a:rPr lang="fr-FR" sz="1000" dirty="0" err="1"/>
                        <a:t>therefore</a:t>
                      </a:r>
                      <a:r>
                        <a:rPr lang="fr-FR" sz="1000" dirty="0"/>
                        <a:t> retentions, </a:t>
                      </a:r>
                      <a:r>
                        <a:rPr lang="fr-FR" sz="1000" dirty="0" err="1"/>
                        <a:t>contract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renewal</a:t>
                      </a:r>
                      <a:r>
                        <a:rPr lang="fr-FR" sz="1000" dirty="0"/>
                        <a:t> and </a:t>
                      </a:r>
                      <a:r>
                        <a:rPr lang="fr-FR" sz="1000" dirty="0" err="1"/>
                        <a:t>transfers</a:t>
                      </a:r>
                      <a:r>
                        <a:rPr lang="fr-FR" sz="1000" dirty="0"/>
                        <a:t> are not </a:t>
                      </a:r>
                      <a:r>
                        <a:rPr lang="fr-FR" sz="1000" dirty="0" err="1"/>
                        <a:t>included</a:t>
                      </a:r>
                      <a:r>
                        <a:rPr lang="fr-FR" sz="1000" dirty="0"/>
                        <a:t> in the </a:t>
                      </a:r>
                      <a:r>
                        <a:rPr lang="fr-FR" sz="1000" dirty="0" err="1"/>
                        <a:t>calculation</a:t>
                      </a:r>
                      <a:r>
                        <a:rPr lang="fr-FR" sz="1000" dirty="0"/>
                        <a:t>. </a:t>
                      </a:r>
                      <a:r>
                        <a:rPr lang="fr-FR" sz="1000" dirty="0" err="1"/>
                        <a:t>However</a:t>
                      </a:r>
                      <a:r>
                        <a:rPr lang="fr-FR" sz="1000" dirty="0"/>
                        <a:t>, </a:t>
                      </a:r>
                      <a:r>
                        <a:rPr lang="fr-FR" sz="1000" dirty="0" err="1"/>
                        <a:t>these</a:t>
                      </a:r>
                      <a:r>
                        <a:rPr lang="fr-FR" sz="1000" dirty="0"/>
                        <a:t> key informations can </a:t>
                      </a:r>
                      <a:r>
                        <a:rPr lang="fr-FR" sz="1000" dirty="0" err="1"/>
                        <a:t>be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found</a:t>
                      </a:r>
                      <a:r>
                        <a:rPr lang="fr-FR" sz="1000" dirty="0"/>
                        <a:t> in the </a:t>
                      </a:r>
                      <a:r>
                        <a:rPr lang="fr-FR" sz="1000" dirty="0" err="1"/>
                        <a:t>detailed</a:t>
                      </a:r>
                      <a:r>
                        <a:rPr lang="fr-FR" sz="1000" dirty="0"/>
                        <a:t> tables for </a:t>
                      </a:r>
                      <a:r>
                        <a:rPr lang="fr-FR" sz="1000" dirty="0" err="1"/>
                        <a:t>each</a:t>
                      </a:r>
                      <a:r>
                        <a:rPr lang="fr-FR" sz="1000" dirty="0"/>
                        <a:t> network. </a:t>
                      </a:r>
                      <a:r>
                        <a:rPr lang="fr-FR" sz="1000" dirty="0" err="1"/>
                        <a:t>Moreover</a:t>
                      </a:r>
                      <a:r>
                        <a:rPr lang="fr-FR" sz="1000" dirty="0"/>
                        <a:t>, </a:t>
                      </a:r>
                      <a:r>
                        <a:rPr lang="fr-FR" sz="1000" dirty="0" err="1"/>
                        <a:t>we</a:t>
                      </a:r>
                      <a:r>
                        <a:rPr lang="fr-FR" sz="1000" dirty="0"/>
                        <a:t> do value retentions/</a:t>
                      </a:r>
                      <a:r>
                        <a:rPr lang="fr-FR" sz="1000" dirty="0" err="1"/>
                        <a:t>contract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renewals</a:t>
                      </a:r>
                      <a:r>
                        <a:rPr lang="fr-FR" sz="1000" dirty="0"/>
                        <a:t> in </a:t>
                      </a:r>
                      <a:r>
                        <a:rPr lang="fr-FR" sz="1000" dirty="0" err="1"/>
                        <a:t>two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different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criteria</a:t>
                      </a:r>
                      <a:r>
                        <a:rPr lang="fr-FR" sz="1000" dirty="0"/>
                        <a:t> of the qualitative </a:t>
                      </a:r>
                      <a:r>
                        <a:rPr lang="fr-FR" sz="1000" dirty="0" err="1"/>
                        <a:t>evaluation</a:t>
                      </a:r>
                      <a:r>
                        <a:rPr lang="fr-FR" sz="1000" dirty="0"/>
                        <a:t> : the </a:t>
                      </a:r>
                      <a:r>
                        <a:rPr lang="fr-FR" sz="1000" i="1" dirty="0" err="1"/>
                        <a:t>Competitiveness</a:t>
                      </a:r>
                      <a:r>
                        <a:rPr lang="fr-FR" sz="1000" i="1" dirty="0"/>
                        <a:t> in </a:t>
                      </a:r>
                      <a:r>
                        <a:rPr lang="fr-FR" sz="1000" i="1" dirty="0" err="1"/>
                        <a:t>pitches</a:t>
                      </a:r>
                      <a:r>
                        <a:rPr lang="fr-FR" sz="1000" i="1" dirty="0"/>
                        <a:t> </a:t>
                      </a:r>
                      <a:r>
                        <a:rPr lang="fr-FR" sz="1000" dirty="0" err="1"/>
                        <a:t>criteria</a:t>
                      </a:r>
                      <a:r>
                        <a:rPr lang="fr-FR" sz="1000" dirty="0"/>
                        <a:t> (Table 18) as </a:t>
                      </a:r>
                      <a:r>
                        <a:rPr lang="fr-FR" sz="1000" dirty="0" err="1"/>
                        <a:t>well</a:t>
                      </a:r>
                      <a:r>
                        <a:rPr lang="fr-FR" sz="1000" dirty="0"/>
                        <a:t> as </a:t>
                      </a:r>
                      <a:r>
                        <a:rPr lang="fr-FR" sz="1000" i="1" dirty="0"/>
                        <a:t>Client </a:t>
                      </a:r>
                      <a:r>
                        <a:rPr lang="fr-FR" sz="1000" i="1" dirty="0" err="1"/>
                        <a:t>relationship</a:t>
                      </a:r>
                      <a:r>
                        <a:rPr lang="fr-FR" sz="1000" i="1" dirty="0"/>
                        <a:t> </a:t>
                      </a:r>
                      <a:r>
                        <a:rPr lang="fr-FR" sz="1000" i="1" dirty="0" err="1"/>
                        <a:t>stability</a:t>
                      </a:r>
                      <a:r>
                        <a:rPr lang="fr-FR" sz="1000" i="1" dirty="0"/>
                        <a:t> </a:t>
                      </a:r>
                      <a:r>
                        <a:rPr lang="fr-FR" sz="1000" dirty="0"/>
                        <a:t>(Table 25).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0" marR="360000" marT="72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678728B-9160-78F9-5E05-269319D18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859221"/>
              </p:ext>
            </p:extLst>
          </p:nvPr>
        </p:nvGraphicFramePr>
        <p:xfrm>
          <a:off x="354842" y="4317478"/>
          <a:ext cx="3288922" cy="224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872">
                  <a:extLst>
                    <a:ext uri="{9D8B030D-6E8A-4147-A177-3AD203B41FA5}">
                      <a16:colId xmlns:a16="http://schemas.microsoft.com/office/drawing/2014/main" val="605464077"/>
                    </a:ext>
                  </a:extLst>
                </a:gridCol>
                <a:gridCol w="129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73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3 </a:t>
                      </a:r>
                      <a:r>
                        <a:rPr kumimoji="0" lang="en-US" sz="1800" b="0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agencies</a:t>
                      </a: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E52">
                        <a:alpha val="6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Perimeter &amp; Market Growth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6"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08000" marR="108000" marT="108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dirty="0"/>
                    </a:p>
                  </a:txBody>
                  <a:tcPr marL="216000" marR="108000" marT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6E97C3F-BF61-77F8-8A2D-89720DA5F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723905"/>
              </p:ext>
            </p:extLst>
          </p:nvPr>
        </p:nvGraphicFramePr>
        <p:xfrm>
          <a:off x="3834989" y="4317478"/>
          <a:ext cx="3288922" cy="224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038">
                  <a:extLst>
                    <a:ext uri="{9D8B030D-6E8A-4147-A177-3AD203B41FA5}">
                      <a16:colId xmlns:a16="http://schemas.microsoft.com/office/drawing/2014/main" val="605464077"/>
                    </a:ext>
                  </a:extLst>
                </a:gridCol>
                <a:gridCol w="1208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Group </a:t>
                      </a:r>
                      <a:r>
                        <a:rPr kumimoji="0" lang="en-US" sz="1800" b="0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ranking</a:t>
                      </a: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E52">
                        <a:alpha val="6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Perimeter &amp; Market Growth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01"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marT="108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dirty="0"/>
                    </a:p>
                  </a:txBody>
                  <a:tcPr marL="72000" marR="108000" marT="10800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ableau 6"/>
          <p:cNvSpPr txBox="1"/>
          <p:nvPr/>
        </p:nvSpPr>
        <p:spPr>
          <a:xfrm>
            <a:off x="354842" y="690000"/>
            <a:ext cx="6840371" cy="5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2800" b="1" dirty="0">
                <a:solidFill>
                  <a:srgbClr val="1F2D2A"/>
                </a:solidFill>
                <a:latin typeface="Calibri"/>
              </a:rPr>
              <a:t>New Business Balance</a:t>
            </a:r>
            <a:r>
              <a:rPr lang="en-US" sz="2800" b="0" dirty="0">
                <a:solidFill>
                  <a:srgbClr val="7FA89E"/>
                </a:solidFill>
                <a:latin typeface="Calibri"/>
              </a:rPr>
              <a:t>  ·  Key Findings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35A7C789-7124-638B-A082-D6F0AD76B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32132"/>
              </p:ext>
            </p:extLst>
          </p:nvPr>
        </p:nvGraphicFramePr>
        <p:xfrm>
          <a:off x="498575" y="4847748"/>
          <a:ext cx="2987300" cy="1198126"/>
        </p:xfrm>
        <a:graphic>
          <a:graphicData uri="http://schemas.openxmlformats.org/drawingml/2006/table">
            <a:tbl>
              <a:tblPr/>
              <a:tblGrid>
                <a:gridCol w="234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1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1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081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rank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773" marR="82773" marT="41387" marB="41387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Hong Kong</a:t>
                      </a:r>
                      <a:b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 6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agencies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2773" marR="82773" marT="41387" marB="413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New</a:t>
                      </a:r>
                    </a:p>
                    <a:p>
                      <a:pPr algn="ctr" fontAlgn="t"/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Biz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Balance 2025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C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Wins</a:t>
                      </a:r>
                      <a:br>
                        <a:rPr lang="fr-FR" sz="9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€m</a:t>
                      </a:r>
                      <a:endParaRPr lang="fr-FR" sz="9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9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Departures</a:t>
                      </a:r>
                      <a:endParaRPr lang="fr-FR" sz="9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755934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€m</a:t>
                      </a:r>
                      <a:endParaRPr lang="fr-FR" sz="9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41387" marB="413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32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Spark </a:t>
                      </a:r>
                      <a:r>
                        <a:rPr lang="fr-F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Foundry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32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dentsu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07237"/>
                  </a:ext>
                </a:extLst>
              </a:tr>
              <a:tr h="18432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3=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Starcom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73190"/>
                  </a:ext>
                </a:extLst>
              </a:tr>
              <a:tr h="18432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3=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Hearts &amp; Science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193284"/>
                  </a:ext>
                </a:extLst>
              </a:tr>
            </a:tbl>
          </a:graphicData>
        </a:graphic>
      </p:graphicFrame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7BEAAF46-ED84-D331-AAB9-1229AD6D4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127594"/>
              </p:ext>
            </p:extLst>
          </p:nvPr>
        </p:nvGraphicFramePr>
        <p:xfrm>
          <a:off x="4107913" y="4807475"/>
          <a:ext cx="2987300" cy="1696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08D2EB54-1E3E-AFA5-1FDD-B4A14C78DD56}"/>
              </a:ext>
            </a:extLst>
          </p:cNvPr>
          <p:cNvSpPr txBox="1"/>
          <p:nvPr/>
        </p:nvSpPr>
        <p:spPr>
          <a:xfrm>
            <a:off x="586576" y="6156288"/>
            <a:ext cx="28112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i="1" dirty="0">
                <a:solidFill>
                  <a:srgbClr val="7F968E"/>
                </a:solidFill>
              </a:rPr>
              <a:t>* </a:t>
            </a:r>
            <a:r>
              <a:rPr lang="fr-FR" sz="800" b="1" i="1" u="sng" dirty="0">
                <a:solidFill>
                  <a:srgbClr val="7F968E"/>
                </a:solidFill>
              </a:rPr>
              <a:t>Not</a:t>
            </a:r>
            <a:r>
              <a:rPr lang="fr-FR" sz="800" i="1" dirty="0">
                <a:solidFill>
                  <a:srgbClr val="7F968E"/>
                </a:solidFill>
              </a:rPr>
              <a:t> incl. Retentions, Client </a:t>
            </a:r>
            <a:r>
              <a:rPr lang="fr-FR" sz="800" i="1" dirty="0" err="1">
                <a:solidFill>
                  <a:srgbClr val="7F968E"/>
                </a:solidFill>
              </a:rPr>
              <a:t>renewal</a:t>
            </a:r>
            <a:r>
              <a:rPr lang="fr-FR" sz="800" i="1" dirty="0">
                <a:solidFill>
                  <a:srgbClr val="7F968E"/>
                </a:solidFill>
              </a:rPr>
              <a:t> and </a:t>
            </a:r>
            <a:r>
              <a:rPr lang="fr-FR" sz="800" i="1" dirty="0" err="1">
                <a:solidFill>
                  <a:srgbClr val="7F968E"/>
                </a:solidFill>
              </a:rPr>
              <a:t>Transfers</a:t>
            </a:r>
            <a:r>
              <a:rPr lang="fr-FR" sz="800" i="1" dirty="0">
                <a:solidFill>
                  <a:srgbClr val="7F968E"/>
                </a:solidFill>
              </a:rPr>
              <a:t>. </a:t>
            </a:r>
            <a:endParaRPr lang="en-US" sz="800" i="1" dirty="0">
              <a:solidFill>
                <a:srgbClr val="7F968E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890DE20-4658-C820-5E5D-A77D7E813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233475"/>
              </p:ext>
            </p:extLst>
          </p:nvPr>
        </p:nvGraphicFramePr>
        <p:xfrm>
          <a:off x="354842" y="6669881"/>
          <a:ext cx="6740371" cy="3629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0371">
                  <a:extLst>
                    <a:ext uri="{9D8B030D-6E8A-4147-A177-3AD203B41FA5}">
                      <a16:colId xmlns:a16="http://schemas.microsoft.com/office/drawing/2014/main" val="605464077"/>
                    </a:ext>
                  </a:extLst>
                </a:gridCol>
              </a:tblGrid>
              <a:tr h="388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5 Key Takeaways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574"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en-US" sz="1000" b="1" dirty="0"/>
                        <a:t>Publicis Media leads the market by a wide margin:</a:t>
                      </a:r>
                      <a:r>
                        <a:rPr lang="en-US" sz="1000" dirty="0"/>
                        <a:t> Spark Foundry is the top individual winner (+$42.3m NBB), driven almost entirely by the Nestlé + Wyeth consolidation, the single largest account move of the year. Starcom adds +$19.6m (</a:t>
                      </a:r>
                      <a:r>
                        <a:rPr lang="en-US" sz="1000" dirty="0" err="1"/>
                        <a:t>Nongfu</a:t>
                      </a:r>
                      <a:r>
                        <a:rPr lang="en-US" sz="1000" dirty="0"/>
                        <a:t> Spring, MGM Resorts), and Zenith +$14.9m (ret. HK Disneyland, China Mobile International), despite absorbing the Bank of China HK (-$5.4m) and partial HK Disneyland (-$3.8m) departures.</a:t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en-US" sz="1000" b="1" dirty="0" err="1"/>
                        <a:t>dentsu</a:t>
                      </a:r>
                      <a:r>
                        <a:rPr lang="en-US" sz="1000" b="1" dirty="0"/>
                        <a:t> X posts the strongest individual NBB ratio in the market.</a:t>
                      </a:r>
                      <a:r>
                        <a:rPr lang="en-US" sz="1000" dirty="0"/>
                        <a:t> A near-clean sweep of +$26.8m on minimal losses, built on a single transformative win — Telford ($27.5m) from </a:t>
                      </a:r>
                      <a:r>
                        <a:rPr lang="en-US" sz="1000" dirty="0" err="1"/>
                        <a:t>Hakuhodo</a:t>
                      </a:r>
                      <a:r>
                        <a:rPr lang="en-US" sz="1000" dirty="0"/>
                        <a:t> — alongside a significant retained book ($46.1m in retentions, including KAO and Ocean Park)</a:t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fr-FR" sz="1000" b="1" dirty="0" err="1"/>
                        <a:t>Omnicom</a:t>
                      </a:r>
                      <a:r>
                        <a:rPr lang="fr-FR" sz="1000" b="1" dirty="0"/>
                        <a:t> </a:t>
                      </a:r>
                      <a:r>
                        <a:rPr lang="fr-FR" sz="1000" b="1" dirty="0" err="1"/>
                        <a:t>consolidates</a:t>
                      </a:r>
                      <a:r>
                        <a:rPr lang="fr-FR" sz="1000" b="1" dirty="0"/>
                        <a:t> </a:t>
                      </a:r>
                      <a:r>
                        <a:rPr lang="fr-FR" sz="1000" b="1" dirty="0" err="1"/>
                        <a:t>across</a:t>
                      </a:r>
                      <a:r>
                        <a:rPr lang="fr-FR" sz="1000" b="1" dirty="0"/>
                        <a:t> four </a:t>
                      </a:r>
                      <a:r>
                        <a:rPr lang="fr-FR" sz="1000" b="1" dirty="0" err="1"/>
                        <a:t>agencies</a:t>
                      </a:r>
                      <a:r>
                        <a:rPr lang="fr-FR" sz="1000" b="1" dirty="0"/>
                        <a:t> for a </a:t>
                      </a:r>
                      <a:r>
                        <a:rPr lang="fr-FR" sz="1000" b="1" dirty="0" err="1"/>
                        <a:t>combined</a:t>
                      </a:r>
                      <a:r>
                        <a:rPr lang="fr-FR" sz="1000" b="1" dirty="0"/>
                        <a:t> +$54.8m NBB.</a:t>
                      </a:r>
                      <a:r>
                        <a:rPr lang="fr-FR" sz="1000" dirty="0"/>
                        <a:t> Hearts &amp; Science continues </a:t>
                      </a:r>
                      <a:r>
                        <a:rPr lang="fr-FR" sz="1000" dirty="0" err="1"/>
                        <a:t>its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rapid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ascent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with</a:t>
                      </a:r>
                      <a:r>
                        <a:rPr lang="fr-FR" sz="1000" dirty="0"/>
                        <a:t> AS Watson ($18m) as </a:t>
                      </a:r>
                      <a:r>
                        <a:rPr lang="fr-FR" sz="1000" dirty="0" err="1"/>
                        <a:t>its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anchor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win</a:t>
                      </a:r>
                      <a:r>
                        <a:rPr lang="fr-FR" sz="1000" dirty="0"/>
                        <a:t>. PHD </a:t>
                      </a:r>
                      <a:r>
                        <a:rPr lang="fr-FR" sz="1000" dirty="0" err="1"/>
                        <a:t>delivers</a:t>
                      </a:r>
                      <a:r>
                        <a:rPr lang="fr-FR" sz="1000" dirty="0"/>
                        <a:t> +$17.1m (Jung </a:t>
                      </a:r>
                      <a:r>
                        <a:rPr lang="fr-FR" sz="1000" dirty="0" err="1"/>
                        <a:t>Kwun</a:t>
                      </a:r>
                      <a:r>
                        <a:rPr lang="fr-FR" sz="1000" dirty="0"/>
                        <a:t> Jang, JD.com) </a:t>
                      </a:r>
                      <a:r>
                        <a:rPr lang="fr-FR" sz="1000" dirty="0" err="1"/>
                        <a:t>despite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absorbing</a:t>
                      </a:r>
                      <a:r>
                        <a:rPr lang="fr-FR" sz="1000" dirty="0"/>
                        <a:t> the </a:t>
                      </a:r>
                      <a:r>
                        <a:rPr lang="fr-FR" sz="1000" dirty="0" err="1"/>
                        <a:t>Vitasoy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departure</a:t>
                      </a:r>
                      <a:r>
                        <a:rPr lang="fr-FR" sz="1000" dirty="0"/>
                        <a:t>. UM incl. Initiative </a:t>
                      </a:r>
                      <a:r>
                        <a:rPr lang="fr-FR" sz="1000" dirty="0" err="1"/>
                        <a:t>adds</a:t>
                      </a:r>
                      <a:r>
                        <a:rPr lang="fr-FR" sz="1000" dirty="0"/>
                        <a:t> OSIM &amp; Bank of China, offset by the </a:t>
                      </a:r>
                      <a:r>
                        <a:rPr lang="fr-FR" sz="1000" dirty="0" err="1"/>
                        <a:t>Shangri</a:t>
                      </a:r>
                      <a:r>
                        <a:rPr lang="fr-FR" sz="1000" dirty="0"/>
                        <a:t>-La Hotels </a:t>
                      </a:r>
                      <a:r>
                        <a:rPr lang="fr-FR" sz="1000" dirty="0" err="1"/>
                        <a:t>loss</a:t>
                      </a:r>
                      <a:r>
                        <a:rPr lang="fr-FR" sz="1000" dirty="0"/>
                        <a:t> and Emirates. </a:t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en-US" sz="1000" b="1" dirty="0"/>
                        <a:t>Havas ends the year effectively flat </a:t>
                      </a:r>
                      <a:r>
                        <a:rPr lang="en-US" sz="1000" dirty="0"/>
                        <a:t>Wins ($10.4m) and departures (-$10.2m) cancel out, with Sun Life Assurance (-$7.8m) the dominant outflow, only partially compensated by smaller local wins (Blue Vista HK, HK Golf Club, Hospital Authority).</a:t>
                      </a:r>
                      <a:br>
                        <a:rPr lang="en-US" sz="1000" dirty="0"/>
                      </a:br>
                      <a:br>
                        <a:rPr lang="en-US" sz="1000" dirty="0"/>
                      </a:b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en-US" sz="1000" b="1" dirty="0"/>
                        <a:t>WPP Media faces a challenging year, with a combined NBB of approximately -$23.3m across its four agencies.</a:t>
                      </a:r>
                      <a:r>
                        <a:rPr lang="en-US" sz="1000" dirty="0"/>
                        <a:t> The group's losses are spread across several accounts and reflect a broader competitive pressure. </a:t>
                      </a:r>
                      <a:r>
                        <a:rPr lang="en-US" sz="1000" dirty="0" err="1"/>
                        <a:t>EssenceMediacom</a:t>
                      </a:r>
                      <a:r>
                        <a:rPr lang="en-US" sz="1000" dirty="0"/>
                        <a:t> remains the group's most competitive agency in 2025, delivering a positive NBB of +$4.1m on the back of the </a:t>
                      </a:r>
                      <a:r>
                        <a:rPr lang="en-US" sz="1000" dirty="0" err="1"/>
                        <a:t>Webull</a:t>
                      </a:r>
                      <a:r>
                        <a:rPr lang="en-US" sz="1000" dirty="0"/>
                        <a:t> win ($6.2m)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marT="108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" name="Rectangle : coins arrondis 327">
            <a:hlinkClick r:id="rId3" action="ppaction://hlinksldjump"/>
            <a:extLst>
              <a:ext uri="{FF2B5EF4-FFF2-40B4-BE49-F238E27FC236}">
                <a16:creationId xmlns:a16="http://schemas.microsoft.com/office/drawing/2014/main" id="{8F9D9517-6D54-17F0-F2F3-9FDF4BD1BDE9}"/>
              </a:ext>
            </a:extLst>
          </p:cNvPr>
          <p:cNvSpPr/>
          <p:nvPr/>
        </p:nvSpPr>
        <p:spPr>
          <a:xfrm>
            <a:off x="1349956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9" name="Rectangle : coins arrondis 328">
            <a:hlinkClick r:id="rId4" action="ppaction://hlinksldjump"/>
            <a:extLst>
              <a:ext uri="{FF2B5EF4-FFF2-40B4-BE49-F238E27FC236}">
                <a16:creationId xmlns:a16="http://schemas.microsoft.com/office/drawing/2014/main" id="{F54631E0-EC98-031B-BC5C-396AC15DB425}"/>
              </a:ext>
            </a:extLst>
          </p:cNvPr>
          <p:cNvSpPr/>
          <p:nvPr/>
        </p:nvSpPr>
        <p:spPr>
          <a:xfrm>
            <a:off x="2704890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0" name="Rectangle : coins arrondis 329">
            <a:hlinkClick r:id="rId5" action="ppaction://hlinksldjump"/>
            <a:extLst>
              <a:ext uri="{FF2B5EF4-FFF2-40B4-BE49-F238E27FC236}">
                <a16:creationId xmlns:a16="http://schemas.microsoft.com/office/drawing/2014/main" id="{3860AFEF-9698-DBA7-09C6-4992EA37C649}"/>
              </a:ext>
            </a:extLst>
          </p:cNvPr>
          <p:cNvSpPr/>
          <p:nvPr/>
        </p:nvSpPr>
        <p:spPr>
          <a:xfrm>
            <a:off x="4024846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1" name="Rectangle : coins arrondis 330">
            <a:hlinkClick r:id="rId6" action="ppaction://hlinksldjump"/>
            <a:extLst>
              <a:ext uri="{FF2B5EF4-FFF2-40B4-BE49-F238E27FC236}">
                <a16:creationId xmlns:a16="http://schemas.microsoft.com/office/drawing/2014/main" id="{7666B32F-C231-0C80-6471-943C1731194B}"/>
              </a:ext>
            </a:extLst>
          </p:cNvPr>
          <p:cNvSpPr/>
          <p:nvPr/>
        </p:nvSpPr>
        <p:spPr>
          <a:xfrm>
            <a:off x="5284791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Rectangle : coins arrondis 331">
            <a:hlinkClick r:id="rId7" action="ppaction://hlinksldjump"/>
            <a:extLst>
              <a:ext uri="{FF2B5EF4-FFF2-40B4-BE49-F238E27FC236}">
                <a16:creationId xmlns:a16="http://schemas.microsoft.com/office/drawing/2014/main" id="{1FCFBEDF-AF80-11BC-EC58-3BE1642BC3DE}"/>
              </a:ext>
            </a:extLst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05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0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0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1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1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1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1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1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1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1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3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3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3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4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4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5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5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5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5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5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5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5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6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92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3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194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195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196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197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19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9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2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1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2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2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3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3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3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3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3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3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3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3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3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9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1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2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4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4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4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4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5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5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5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5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5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5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5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7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9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0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6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64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5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66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67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68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69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70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71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72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73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74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75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76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7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8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9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80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81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2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83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84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85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86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87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8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8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90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91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9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3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5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9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34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4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35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35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35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5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5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5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5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5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00" name="Title"/>
          <p:cNvSpPr txBox="1"/>
          <p:nvPr/>
        </p:nvSpPr>
        <p:spPr>
          <a:xfrm>
            <a:off x="280000" y="420000"/>
            <a:ext cx="6999675" cy="3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2800" b="1" dirty="0">
                <a:solidFill>
                  <a:srgbClr val="1F2D2A"/>
                </a:solidFill>
                <a:latin typeface="Calibri"/>
              </a:rPr>
              <a:t>TOP moves / retentions</a:t>
            </a:r>
            <a:r>
              <a:rPr lang="en-US" sz="2800" b="0" dirty="0">
                <a:solidFill>
                  <a:srgbClr val="7FA89E"/>
                </a:solidFill>
                <a:latin typeface="Calibri"/>
              </a:rPr>
              <a:t>  ·  2025</a:t>
            </a:r>
          </a:p>
        </p:txBody>
      </p:sp>
      <p:sp>
        <p:nvSpPr>
          <p:cNvPr id="301" name="Sub"/>
          <p:cNvSpPr txBox="1"/>
          <p:nvPr/>
        </p:nvSpPr>
        <p:spPr>
          <a:xfrm>
            <a:off x="280000" y="740000"/>
            <a:ext cx="6999675" cy="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Synthèse des principaux gains, pertes et rétentions (Sep.24 → Sep.25, annonces).</a:t>
            </a:r>
          </a:p>
        </p:txBody>
      </p:sp>
      <p:sp>
        <p:nvSpPr>
          <p:cNvPr id="302" name="HdrR0"/>
          <p:cNvSpPr/>
          <p:nvPr/>
        </p:nvSpPr>
        <p:spPr>
          <a:xfrm>
            <a:off x="280000" y="910000"/>
            <a:ext cx="2246558" cy="35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3" name="HdrT0"/>
          <p:cNvSpPr txBox="1"/>
          <p:nvPr/>
        </p:nvSpPr>
        <p:spPr>
          <a:xfrm>
            <a:off x="330000" y="910000"/>
            <a:ext cx="2176558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WINS MAJEURS</a:t>
            </a:r>
          </a:p>
          <a:p>
            <a:pPr algn="l">
              <a:spcBef>
                <a:spcPts val="40"/>
              </a:spcBef>
            </a:pPr>
            <a:r>
              <a:rPr lang="en-US" sz="870" b="0" dirty="0">
                <a:solidFill>
                  <a:srgbClr val="BDD4CF"/>
                </a:solidFill>
                <a:latin typeface="Calibri"/>
              </a:rPr>
              <a:t>Nouveaux gains (sélection)</a:t>
            </a:r>
          </a:p>
        </p:txBody>
      </p:sp>
      <p:sp>
        <p:nvSpPr>
          <p:cNvPr id="304" name="Bar0_0"/>
          <p:cNvSpPr/>
          <p:nvPr/>
        </p:nvSpPr>
        <p:spPr>
          <a:xfrm>
            <a:off x="280000" y="133000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5" name="Item0_0"/>
          <p:cNvSpPr txBox="1"/>
          <p:nvPr/>
        </p:nvSpPr>
        <p:spPr>
          <a:xfrm>
            <a:off x="330000" y="128000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Nestlé + Wyeth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Spark Foundry</a:t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>  +$47.6m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Consolidation majeure de l'année (Nestlé + Wyeth).</a:t>
            </a:r>
          </a:p>
        </p:txBody>
      </p:sp>
      <p:sp>
        <p:nvSpPr>
          <p:cNvPr id="306" name="Sep0_1"/>
          <p:cNvSpPr>
            <a:spLocks noGrp="1"/>
          </p:cNvSpPr>
          <p:nvPr/>
        </p:nvSpPr>
        <p:spPr>
          <a:xfrm>
            <a:off x="330000" y="302588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7" name="Bar0_1"/>
          <p:cNvSpPr/>
          <p:nvPr/>
        </p:nvSpPr>
        <p:spPr>
          <a:xfrm>
            <a:off x="280000" y="307588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" name="Item0_1"/>
          <p:cNvSpPr txBox="1"/>
          <p:nvPr/>
        </p:nvSpPr>
        <p:spPr>
          <a:xfrm>
            <a:off x="330000" y="302588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Telford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dentsu X</a:t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>  +$27.5m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Gain transformant depuis Hakuhodo.</a:t>
            </a:r>
          </a:p>
        </p:txBody>
      </p:sp>
      <p:sp>
        <p:nvSpPr>
          <p:cNvPr id="309" name="Sep0_2"/>
          <p:cNvSpPr>
            <a:spLocks noGrp="1"/>
          </p:cNvSpPr>
          <p:nvPr/>
        </p:nvSpPr>
        <p:spPr>
          <a:xfrm>
            <a:off x="330000" y="477176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0" name="Bar0_2"/>
          <p:cNvSpPr/>
          <p:nvPr/>
        </p:nvSpPr>
        <p:spPr>
          <a:xfrm>
            <a:off x="280000" y="482176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" name="Item0_2"/>
          <p:cNvSpPr txBox="1"/>
          <p:nvPr/>
        </p:nvSpPr>
        <p:spPr>
          <a:xfrm>
            <a:off x="330000" y="477176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AS Watson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Hearts &amp; Science</a:t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>  +$18m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Win anchor pour la croissance Omnicom.</a:t>
            </a:r>
          </a:p>
        </p:txBody>
      </p:sp>
      <p:sp>
        <p:nvSpPr>
          <p:cNvPr id="312" name="Sep0_3"/>
          <p:cNvSpPr>
            <a:spLocks noGrp="1"/>
          </p:cNvSpPr>
          <p:nvPr/>
        </p:nvSpPr>
        <p:spPr>
          <a:xfrm>
            <a:off x="330000" y="651764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3" name="Bar0_3"/>
          <p:cNvSpPr/>
          <p:nvPr/>
        </p:nvSpPr>
        <p:spPr>
          <a:xfrm>
            <a:off x="280000" y="656764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4" name="Item0_3"/>
          <p:cNvSpPr txBox="1"/>
          <p:nvPr/>
        </p:nvSpPr>
        <p:spPr>
          <a:xfrm>
            <a:off x="330000" y="651764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Jung Kwun Jang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PHD</a:t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>  +$11.7m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Double gain, contribution significative au NBB.</a:t>
            </a:r>
          </a:p>
        </p:txBody>
      </p:sp>
      <p:sp>
        <p:nvSpPr>
          <p:cNvPr id="315" name="Sep0_4"/>
          <p:cNvSpPr>
            <a:spLocks noGrp="1"/>
          </p:cNvSpPr>
          <p:nvPr/>
        </p:nvSpPr>
        <p:spPr>
          <a:xfrm>
            <a:off x="330000" y="826352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6" name="Bar0_4"/>
          <p:cNvSpPr/>
          <p:nvPr/>
        </p:nvSpPr>
        <p:spPr>
          <a:xfrm>
            <a:off x="280000" y="831352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7" name="Item0_4"/>
          <p:cNvSpPr txBox="1"/>
          <p:nvPr/>
        </p:nvSpPr>
        <p:spPr>
          <a:xfrm>
            <a:off x="330000" y="826352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Webull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EssenceMediacom</a:t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>  +$6.2m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L'un des rares points positifs WPP.</a:t>
            </a:r>
          </a:p>
        </p:txBody>
      </p:sp>
      <p:sp>
        <p:nvSpPr>
          <p:cNvPr id="318" name="HdrR1"/>
          <p:cNvSpPr/>
          <p:nvPr/>
        </p:nvSpPr>
        <p:spPr>
          <a:xfrm>
            <a:off x="2656558" y="910000"/>
            <a:ext cx="2246558" cy="350000"/>
          </a:xfrm>
          <a:prstGeom prst="rect">
            <a:avLst/>
          </a:prstGeom>
          <a:solidFill>
            <a:srgbClr val="7D3E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9" name="HdrT1"/>
          <p:cNvSpPr txBox="1"/>
          <p:nvPr/>
        </p:nvSpPr>
        <p:spPr>
          <a:xfrm>
            <a:off x="2706558" y="910000"/>
            <a:ext cx="2176558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DÉPARTS MAJEURS</a:t>
            </a:r>
          </a:p>
          <a:p>
            <a:pPr algn="l">
              <a:spcBef>
                <a:spcPts val="40"/>
              </a:spcBef>
            </a:pPr>
            <a:r>
              <a:rPr lang="en-US" sz="870" b="0" dirty="0">
                <a:solidFill>
                  <a:srgbClr val="BDD4CF"/>
                </a:solidFill>
                <a:latin typeface="Calibri"/>
              </a:rPr>
              <a:t>Pertes / sorties (sélection)</a:t>
            </a:r>
          </a:p>
        </p:txBody>
      </p:sp>
      <p:sp>
        <p:nvSpPr>
          <p:cNvPr id="320" name="Bar1_0"/>
          <p:cNvSpPr/>
          <p:nvPr/>
        </p:nvSpPr>
        <p:spPr>
          <a:xfrm>
            <a:off x="2656558" y="133000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1" name="Item1_0"/>
          <p:cNvSpPr txBox="1"/>
          <p:nvPr/>
        </p:nvSpPr>
        <p:spPr>
          <a:xfrm>
            <a:off x="2706558" y="128000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Vitasoy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PHD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Sortie marquante, compensée par plusieurs wins.</a:t>
            </a:r>
          </a:p>
        </p:txBody>
      </p:sp>
      <p:sp>
        <p:nvSpPr>
          <p:cNvPr id="322" name="Sep1_1"/>
          <p:cNvSpPr>
            <a:spLocks noGrp="1"/>
          </p:cNvSpPr>
          <p:nvPr/>
        </p:nvSpPr>
        <p:spPr>
          <a:xfrm>
            <a:off x="2706558" y="302588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3" name="Bar1_1"/>
          <p:cNvSpPr/>
          <p:nvPr/>
        </p:nvSpPr>
        <p:spPr>
          <a:xfrm>
            <a:off x="2656558" y="307588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4" name="Item1_1"/>
          <p:cNvSpPr txBox="1"/>
          <p:nvPr/>
        </p:nvSpPr>
        <p:spPr>
          <a:xfrm>
            <a:off x="2706558" y="302588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Shangri-La Hotels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UM / Initiative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Pertes compensées partiellement (OSIM &amp; BofC).</a:t>
            </a:r>
          </a:p>
        </p:txBody>
      </p:sp>
      <p:sp>
        <p:nvSpPr>
          <p:cNvPr id="325" name="Sep1_2"/>
          <p:cNvSpPr>
            <a:spLocks noGrp="1"/>
          </p:cNvSpPr>
          <p:nvPr/>
        </p:nvSpPr>
        <p:spPr>
          <a:xfrm>
            <a:off x="2706558" y="477176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6" name="Bar1_2"/>
          <p:cNvSpPr/>
          <p:nvPr/>
        </p:nvSpPr>
        <p:spPr>
          <a:xfrm>
            <a:off x="2656558" y="482176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7" name="Item1_2"/>
          <p:cNvSpPr txBox="1"/>
          <p:nvPr/>
        </p:nvSpPr>
        <p:spPr>
          <a:xfrm>
            <a:off x="2706558" y="477176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Bank of China HK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Publicis / Zenith</a:t>
            </a:r>
            <a:r>
              <a:rPr lang="en-US" sz="1400" b="1" dirty="0">
                <a:solidFill>
                  <a:srgbClr val="7D3E3E"/>
                </a:solidFill>
                <a:latin typeface="Calibri"/>
              </a:rPr>
              <a:t>  -$5.4m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Absorbée malgré un NBB global très positif.</a:t>
            </a:r>
          </a:p>
        </p:txBody>
      </p:sp>
      <p:sp>
        <p:nvSpPr>
          <p:cNvPr id="328" name="Sep1_3"/>
          <p:cNvSpPr>
            <a:spLocks noGrp="1"/>
          </p:cNvSpPr>
          <p:nvPr/>
        </p:nvSpPr>
        <p:spPr>
          <a:xfrm>
            <a:off x="2706558" y="651764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9" name="Bar1_3"/>
          <p:cNvSpPr/>
          <p:nvPr/>
        </p:nvSpPr>
        <p:spPr>
          <a:xfrm>
            <a:off x="2656558" y="656764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0" name="Item1_3"/>
          <p:cNvSpPr txBox="1"/>
          <p:nvPr/>
        </p:nvSpPr>
        <p:spPr>
          <a:xfrm>
            <a:off x="2706558" y="651764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Sun Life Assurance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Havas</a:t>
            </a:r>
            <a:r>
              <a:rPr lang="en-US" sz="1400" b="1" dirty="0">
                <a:solidFill>
                  <a:srgbClr val="7D3E3E"/>
                </a:solidFill>
                <a:latin typeface="Calibri"/>
              </a:rPr>
              <a:t>  -$7.8m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Outflow dominant de l'année pour Havas.</a:t>
            </a:r>
          </a:p>
        </p:txBody>
      </p:sp>
      <p:sp>
        <p:nvSpPr>
          <p:cNvPr id="331" name="Sep1_4"/>
          <p:cNvSpPr>
            <a:spLocks noGrp="1"/>
          </p:cNvSpPr>
          <p:nvPr/>
        </p:nvSpPr>
        <p:spPr>
          <a:xfrm>
            <a:off x="2706558" y="826352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32" name="Bar1_4"/>
          <p:cNvSpPr/>
          <p:nvPr/>
        </p:nvSpPr>
        <p:spPr>
          <a:xfrm>
            <a:off x="2656558" y="831352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3" name="Item1_4"/>
          <p:cNvSpPr txBox="1"/>
          <p:nvPr/>
        </p:nvSpPr>
        <p:spPr>
          <a:xfrm>
            <a:off x="2706558" y="826352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Emirates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UM / Initiative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Départ additionnel sur la période.</a:t>
            </a:r>
          </a:p>
        </p:txBody>
      </p:sp>
      <p:sp>
        <p:nvSpPr>
          <p:cNvPr id="334" name="HdrR2"/>
          <p:cNvSpPr/>
          <p:nvPr/>
        </p:nvSpPr>
        <p:spPr>
          <a:xfrm>
            <a:off x="5033116" y="910000"/>
            <a:ext cx="2246558" cy="350000"/>
          </a:xfrm>
          <a:prstGeom prst="rect">
            <a:avLst/>
          </a:prstGeom>
          <a:solidFill>
            <a:srgbClr val="4A6E6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5" name="HdrT2"/>
          <p:cNvSpPr txBox="1"/>
          <p:nvPr/>
        </p:nvSpPr>
        <p:spPr>
          <a:xfrm>
            <a:off x="5083116" y="910000"/>
            <a:ext cx="2176558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RÉTENTIONS NOTABLES</a:t>
            </a:r>
          </a:p>
          <a:p>
            <a:pPr algn="l">
              <a:spcBef>
                <a:spcPts val="40"/>
              </a:spcBef>
            </a:pPr>
            <a:r>
              <a:rPr lang="en-US" sz="870" b="0" dirty="0">
                <a:solidFill>
                  <a:srgbClr val="BDD4CF"/>
                </a:solidFill>
                <a:latin typeface="Calibri"/>
              </a:rPr>
              <a:t>Renouvellements (hors NBB)</a:t>
            </a:r>
          </a:p>
        </p:txBody>
      </p:sp>
      <p:sp>
        <p:nvSpPr>
          <p:cNvPr id="336" name="Bar2_0"/>
          <p:cNvSpPr/>
          <p:nvPr/>
        </p:nvSpPr>
        <p:spPr>
          <a:xfrm>
            <a:off x="5033116" y="1330000"/>
            <a:ext cx="35000" cy="2082350"/>
          </a:xfrm>
          <a:prstGeom prst="rect">
            <a:avLst/>
          </a:prstGeom>
          <a:solidFill>
            <a:srgbClr val="4A6E6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7" name="Item2_0"/>
          <p:cNvSpPr txBox="1"/>
          <p:nvPr/>
        </p:nvSpPr>
        <p:spPr>
          <a:xfrm>
            <a:off x="5083116" y="1280000"/>
            <a:ext cx="2186558" cy="79084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KAO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dentsu X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Retention majeure dans un book significatif.</a:t>
            </a:r>
          </a:p>
        </p:txBody>
      </p:sp>
      <p:sp>
        <p:nvSpPr>
          <p:cNvPr id="338" name="Sep2_1"/>
          <p:cNvSpPr>
            <a:spLocks noGrp="1"/>
          </p:cNvSpPr>
          <p:nvPr/>
        </p:nvSpPr>
        <p:spPr>
          <a:xfrm>
            <a:off x="5009780" y="2144538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39" name="Bar2_1"/>
          <p:cNvSpPr/>
          <p:nvPr/>
        </p:nvSpPr>
        <p:spPr>
          <a:xfrm>
            <a:off x="5033116" y="3512350"/>
            <a:ext cx="35000" cy="2082350"/>
          </a:xfrm>
          <a:prstGeom prst="rect">
            <a:avLst/>
          </a:prstGeom>
          <a:solidFill>
            <a:srgbClr val="4A6E6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40" name="Item2_1"/>
          <p:cNvSpPr txBox="1"/>
          <p:nvPr/>
        </p:nvSpPr>
        <p:spPr>
          <a:xfrm>
            <a:off x="5083116" y="2097742"/>
            <a:ext cx="2186558" cy="95474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Ocean Park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dentsu X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Renouvellement confirmant la stabilité client.</a:t>
            </a:r>
          </a:p>
        </p:txBody>
      </p:sp>
      <p:sp>
        <p:nvSpPr>
          <p:cNvPr id="341" name="Sep2_2"/>
          <p:cNvSpPr>
            <a:spLocks noGrp="1"/>
          </p:cNvSpPr>
          <p:nvPr/>
        </p:nvSpPr>
        <p:spPr>
          <a:xfrm>
            <a:off x="5083116" y="564470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42" name="Bar2_2"/>
          <p:cNvSpPr/>
          <p:nvPr/>
        </p:nvSpPr>
        <p:spPr>
          <a:xfrm>
            <a:off x="5033116" y="5694700"/>
            <a:ext cx="35000" cy="2082350"/>
          </a:xfrm>
          <a:prstGeom prst="rect">
            <a:avLst/>
          </a:prstGeom>
          <a:solidFill>
            <a:srgbClr val="4A6E6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43" name="Item2_2"/>
          <p:cNvSpPr txBox="1"/>
          <p:nvPr/>
        </p:nvSpPr>
        <p:spPr>
          <a:xfrm>
            <a:off x="5083116" y="5644700"/>
            <a:ext cx="2186558" cy="218235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FrieslandCampina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Starcom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Retention citée dans le pack.</a:t>
            </a:r>
          </a:p>
        </p:txBody>
      </p:sp>
      <p:sp>
        <p:nvSpPr>
          <p:cNvPr id="344" name="Sep2_3"/>
          <p:cNvSpPr>
            <a:spLocks noGrp="1"/>
          </p:cNvSpPr>
          <p:nvPr/>
        </p:nvSpPr>
        <p:spPr>
          <a:xfrm>
            <a:off x="5083116" y="782705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45" name="Bar2_3"/>
          <p:cNvSpPr/>
          <p:nvPr/>
        </p:nvSpPr>
        <p:spPr>
          <a:xfrm>
            <a:off x="5033116" y="7877050"/>
            <a:ext cx="35000" cy="2082350"/>
          </a:xfrm>
          <a:prstGeom prst="rect">
            <a:avLst/>
          </a:prstGeom>
          <a:solidFill>
            <a:srgbClr val="4A6E6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46" name="Item2_3"/>
          <p:cNvSpPr txBox="1"/>
          <p:nvPr/>
        </p:nvSpPr>
        <p:spPr>
          <a:xfrm>
            <a:off x="5083116" y="7827050"/>
            <a:ext cx="2186558" cy="218235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Dairy Farm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>  —  OMD</a:t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>Renouvellement notable (hors calcul NBB).</a:t>
            </a:r>
          </a:p>
        </p:txBody>
      </p:sp>
      <p:sp>
        <p:nvSpPr>
          <p:cNvPr id="347" name="Note"/>
          <p:cNvSpPr txBox="1"/>
          <p:nvPr/>
        </p:nvSpPr>
        <p:spPr>
          <a:xfrm>
            <a:off x="280000" y="10069400"/>
            <a:ext cx="6999675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9AAFAB"/>
                </a:solidFill>
                <a:latin typeface="Calibri"/>
              </a:rPr>
              <a:t>Note : Synthèse des principaux mouvements. Valeurs détaillées dans les tableaux par réseau.</a:t>
            </a:r>
          </a:p>
          <a:p>
            <a:pPr algn="l">
              <a:spcBef>
                <a:spcPts val="30"/>
              </a:spcBef>
            </a:pPr>
            <a:r>
              <a:rPr lang="en-US" sz="870" b="0" dirty="0">
                <a:solidFill>
                  <a:srgbClr val="9AAFAB"/>
                </a:solidFill>
                <a:latin typeface="Calibri"/>
              </a:rPr>
              <a:t>Les rétentions / renewals / transferts ne sont pas inclus dans le calcul du NBB.</a:t>
            </a:r>
          </a:p>
        </p:txBody>
      </p:sp>
      <p:sp>
        <p:nvSpPr>
          <p:cNvPr id="358" name="Rectangle : coins arrondis 357">
            <a:hlinkClick r:id="rId2" action="ppaction://hlinksldjump"/>
            <a:extLst>
              <a:ext uri="{FF2B5EF4-FFF2-40B4-BE49-F238E27FC236}">
                <a16:creationId xmlns:a16="http://schemas.microsoft.com/office/drawing/2014/main" id="{E3E05981-72E0-5220-CF58-D5AF63163425}"/>
              </a:ext>
            </a:extLst>
          </p:cNvPr>
          <p:cNvSpPr/>
          <p:nvPr/>
        </p:nvSpPr>
        <p:spPr>
          <a:xfrm>
            <a:off x="30005" y="19999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9" name="Rectangle : coins arrondis 358">
            <a:hlinkClick r:id="rId3" action="ppaction://hlinksldjump"/>
            <a:extLst>
              <a:ext uri="{FF2B5EF4-FFF2-40B4-BE49-F238E27FC236}">
                <a16:creationId xmlns:a16="http://schemas.microsoft.com/office/drawing/2014/main" id="{C76105EA-5754-ACA8-A7DF-37C4310B727E}"/>
              </a:ext>
            </a:extLst>
          </p:cNvPr>
          <p:cNvSpPr/>
          <p:nvPr/>
        </p:nvSpPr>
        <p:spPr>
          <a:xfrm>
            <a:off x="2704890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Rectangle : coins arrondis 359">
            <a:hlinkClick r:id="rId4" action="ppaction://hlinksldjump"/>
            <a:extLst>
              <a:ext uri="{FF2B5EF4-FFF2-40B4-BE49-F238E27FC236}">
                <a16:creationId xmlns:a16="http://schemas.microsoft.com/office/drawing/2014/main" id="{6C4E2A3F-5575-1486-057E-84515788194B}"/>
              </a:ext>
            </a:extLst>
          </p:cNvPr>
          <p:cNvSpPr/>
          <p:nvPr/>
        </p:nvSpPr>
        <p:spPr>
          <a:xfrm>
            <a:off x="4024846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 : coins arrondis 360">
            <a:hlinkClick r:id="rId5" action="ppaction://hlinksldjump"/>
            <a:extLst>
              <a:ext uri="{FF2B5EF4-FFF2-40B4-BE49-F238E27FC236}">
                <a16:creationId xmlns:a16="http://schemas.microsoft.com/office/drawing/2014/main" id="{7D4379D1-4918-6DEC-4B0F-C7EDC8AC5F60}"/>
              </a:ext>
            </a:extLst>
          </p:cNvPr>
          <p:cNvSpPr/>
          <p:nvPr/>
        </p:nvSpPr>
        <p:spPr>
          <a:xfrm>
            <a:off x="5284791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2" name="Rectangle : coins arrondis 361">
            <a:hlinkClick r:id="rId6" action="ppaction://hlinksldjump"/>
            <a:extLst>
              <a:ext uri="{FF2B5EF4-FFF2-40B4-BE49-F238E27FC236}">
                <a16:creationId xmlns:a16="http://schemas.microsoft.com/office/drawing/2014/main" id="{3C5698D6-5D0F-A2A2-2B68-E873F5DFBB37}"/>
              </a:ext>
            </a:extLst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4980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0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0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0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1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21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1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1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1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3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3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5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5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5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5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5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5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5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6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4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4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5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5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45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45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45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45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45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45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5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59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61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62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6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6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6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6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6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6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6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47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47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47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47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47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47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7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7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79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80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8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8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8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84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85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86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87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488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489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490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491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492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493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94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5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6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97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98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99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9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19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94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95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96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7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198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199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1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20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21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2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3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5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2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3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3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3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23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3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3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3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3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3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681" name="Title"/>
          <p:cNvSpPr txBox="1"/>
          <p:nvPr/>
        </p:nvSpPr>
        <p:spPr>
          <a:xfrm>
            <a:off x="280000" y="420000"/>
            <a:ext cx="6999675" cy="3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2200" b="1" dirty="0">
                <a:solidFill>
                  <a:srgbClr val="1F2D2A"/>
                </a:solidFill>
                <a:latin typeface="Calibri"/>
              </a:rPr>
              <a:t>NBB 2025 agencies overview</a:t>
            </a:r>
            <a:r>
              <a:rPr lang="en-US" sz="2200" b="0" dirty="0">
                <a:solidFill>
                  <a:srgbClr val="7FA89E"/>
                </a:solidFill>
                <a:latin typeface="Calibri"/>
              </a:rPr>
              <a:t>  ·  Sep.24 – Sep.25</a:t>
            </a:r>
          </a:p>
        </p:txBody>
      </p:sp>
      <p:sp>
        <p:nvSpPr>
          <p:cNvPr id="682" name="Sub"/>
          <p:cNvSpPr txBox="1"/>
          <p:nvPr/>
        </p:nvSpPr>
        <p:spPr>
          <a:xfrm>
            <a:off x="280000" y="740000"/>
            <a:ext cx="6999675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Retentions, contract renewals &amp; transfers not included  ·  By decreasing NBB balance</a:t>
            </a:r>
          </a:p>
        </p:txBody>
      </p:sp>
      <p:sp>
        <p:nvSpPr>
          <p:cNvPr id="244" name="Rectangle : coins arrondis 243">
            <a:hlinkClick r:id="rId2" action="ppaction://hlinksldjump"/>
            <a:extLst>
              <a:ext uri="{FF2B5EF4-FFF2-40B4-BE49-F238E27FC236}">
                <a16:creationId xmlns:a16="http://schemas.microsoft.com/office/drawing/2014/main" id="{931EE6A4-7F70-6264-4B3B-C9B5371351F5}"/>
              </a:ext>
            </a:extLst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3" name="Rectangle : coins arrondis 242">
            <a:hlinkClick r:id="rId3" action="ppaction://hlinksldjump"/>
            <a:extLst>
              <a:ext uri="{FF2B5EF4-FFF2-40B4-BE49-F238E27FC236}">
                <a16:creationId xmlns:a16="http://schemas.microsoft.com/office/drawing/2014/main" id="{C104E8AE-A739-7296-C52F-A10296523641}"/>
              </a:ext>
            </a:extLst>
          </p:cNvPr>
          <p:cNvSpPr/>
          <p:nvPr/>
        </p:nvSpPr>
        <p:spPr>
          <a:xfrm>
            <a:off x="5284791" y="29583"/>
            <a:ext cx="1074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2" name="Rectangle : coins arrondis 241">
            <a:hlinkClick r:id="rId4" action="ppaction://hlinksldjump"/>
            <a:extLst>
              <a:ext uri="{FF2B5EF4-FFF2-40B4-BE49-F238E27FC236}">
                <a16:creationId xmlns:a16="http://schemas.microsoft.com/office/drawing/2014/main" id="{9061CFA8-321D-75EA-F786-EA7014C26707}"/>
              </a:ext>
            </a:extLst>
          </p:cNvPr>
          <p:cNvSpPr/>
          <p:nvPr/>
        </p:nvSpPr>
        <p:spPr>
          <a:xfrm>
            <a:off x="4024846" y="29583"/>
            <a:ext cx="1074930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0" name="Rectangle : coins arrondis 239">
            <a:hlinkClick r:id="rId5" action="ppaction://hlinksldjump"/>
            <a:extLst>
              <a:ext uri="{FF2B5EF4-FFF2-40B4-BE49-F238E27FC236}">
                <a16:creationId xmlns:a16="http://schemas.microsoft.com/office/drawing/2014/main" id="{005C3628-9BB3-E8EC-18FD-FDFB2715005C}"/>
              </a:ext>
            </a:extLst>
          </p:cNvPr>
          <p:cNvSpPr/>
          <p:nvPr/>
        </p:nvSpPr>
        <p:spPr>
          <a:xfrm>
            <a:off x="1504946" y="29583"/>
            <a:ext cx="95494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5" name="Rectangle : coins arrondis 244">
            <a:hlinkClick r:id="rId6" action="ppaction://hlinksldjump"/>
            <a:extLst>
              <a:ext uri="{FF2B5EF4-FFF2-40B4-BE49-F238E27FC236}">
                <a16:creationId xmlns:a16="http://schemas.microsoft.com/office/drawing/2014/main" id="{AF6A3BD1-D9E3-5D2B-9F14-C5391E86378C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74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0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0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0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1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21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21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21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3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3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4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5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5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5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5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5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5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6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602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603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604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605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606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07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60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60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610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611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00" name="Title"/>
          <p:cNvSpPr txBox="1"/>
          <p:nvPr/>
        </p:nvSpPr>
        <p:spPr>
          <a:xfrm>
            <a:off x="280000" y="420000"/>
            <a:ext cx="699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200" b="1" dirty="0">
                <a:solidFill>
                  <a:srgbClr val="1F2D2A"/>
                </a:solidFill>
                <a:latin typeface="Calibri"/>
              </a:rPr>
              <a:t>NBB 2025 groups overview</a:t>
            </a:r>
            <a:r>
              <a:rPr lang="en-US" sz="2200" b="0" dirty="0">
                <a:solidFill>
                  <a:srgbClr val="7FA89E"/>
                </a:solidFill>
                <a:latin typeface="Calibri"/>
              </a:rPr>
              <a:t>  ·  Sep.24 – Sep.25</a:t>
            </a:r>
          </a:p>
        </p:txBody>
      </p:sp>
      <p:sp>
        <p:nvSpPr>
          <p:cNvPr id="401" name="Sub"/>
          <p:cNvSpPr txBox="1"/>
          <p:nvPr/>
        </p:nvSpPr>
        <p:spPr>
          <a:xfrm>
            <a:off x="280000" y="745000"/>
            <a:ext cx="6999675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Retentions, contract renewals &amp; transfers not included  ·  By decreasing NBB balance</a:t>
            </a:r>
          </a:p>
        </p:txBody>
      </p:sp>
      <p:sp>
        <p:nvSpPr>
          <p:cNvPr id="402" name="TableBg"/>
          <p:cNvSpPr/>
          <p:nvPr/>
        </p:nvSpPr>
        <p:spPr>
          <a:xfrm>
            <a:off x="280000" y="950000"/>
            <a:ext cx="6999675" cy="89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E0DC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03" name="HdrBg"/>
          <p:cNvSpPr/>
          <p:nvPr/>
        </p:nvSpPr>
        <p:spPr>
          <a:xfrm>
            <a:off x="280000" y="950000"/>
            <a:ext cx="6999675" cy="430000"/>
          </a:xfrm>
          <a:prstGeom prst="roundRect">
            <a:avLst>
              <a:gd name="adj" fmla="val 3000"/>
            </a:avLst>
          </a:prstGeom>
          <a:solidFill>
            <a:srgbClr val="2A3D3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4" name="Hdr0"/>
          <p:cNvSpPr txBox="1"/>
          <p:nvPr/>
        </p:nvSpPr>
        <p:spPr>
          <a:xfrm>
            <a:off x="280000" y="950000"/>
            <a:ext cx="235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GROUPE MÉDIA</a:t>
            </a:r>
          </a:p>
        </p:txBody>
      </p:sp>
      <p:sp>
        <p:nvSpPr>
          <p:cNvPr id="405" name="Hdr1"/>
          <p:cNvSpPr txBox="1"/>
          <p:nvPr/>
        </p:nvSpPr>
        <p:spPr>
          <a:xfrm>
            <a:off x="2630000" y="950000"/>
            <a:ext cx="78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WINS (NBRE)</a:t>
            </a:r>
          </a:p>
        </p:txBody>
      </p:sp>
      <p:sp>
        <p:nvSpPr>
          <p:cNvPr id="406" name="Hdr2"/>
          <p:cNvSpPr txBox="1"/>
          <p:nvPr/>
        </p:nvSpPr>
        <p:spPr>
          <a:xfrm>
            <a:off x="3410000" y="950000"/>
            <a:ext cx="82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PERTES (NBRE)</a:t>
            </a:r>
          </a:p>
        </p:txBody>
      </p:sp>
      <p:sp>
        <p:nvSpPr>
          <p:cNvPr id="407" name="Hdr3"/>
          <p:cNvSpPr txBox="1"/>
          <p:nvPr/>
        </p:nvSpPr>
        <p:spPr>
          <a:xfrm>
            <a:off x="4230000" y="950000"/>
            <a:ext cx="11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NET BALANCE ($M)</a:t>
            </a:r>
          </a:p>
        </p:txBody>
      </p:sp>
      <p:sp>
        <p:nvSpPr>
          <p:cNvPr id="408" name="Hdr4"/>
          <p:cNvSpPr txBox="1"/>
          <p:nvPr/>
        </p:nvSpPr>
        <p:spPr>
          <a:xfrm>
            <a:off x="5330000" y="950000"/>
            <a:ext cx="92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WINS ($M)</a:t>
            </a:r>
          </a:p>
        </p:txBody>
      </p:sp>
      <p:sp>
        <p:nvSpPr>
          <p:cNvPr id="409" name="Hdr5"/>
          <p:cNvSpPr txBox="1"/>
          <p:nvPr/>
        </p:nvSpPr>
        <p:spPr>
          <a:xfrm>
            <a:off x="6250000" y="950000"/>
            <a:ext cx="1029675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DÉPARTS ($M)</a:t>
            </a:r>
          </a:p>
        </p:txBody>
      </p:sp>
      <p:sp>
        <p:nvSpPr>
          <p:cNvPr id="410" name="RBg0"/>
          <p:cNvSpPr/>
          <p:nvPr/>
        </p:nvSpPr>
        <p:spPr>
          <a:xfrm>
            <a:off x="280000" y="1380000"/>
            <a:ext cx="6999675" cy="48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1" name="RSep0"/>
          <p:cNvSpPr/>
          <p:nvPr/>
        </p:nvSpPr>
        <p:spPr>
          <a:xfrm>
            <a:off x="280000" y="185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2" name="Stripe0"/>
          <p:cNvSpPr/>
          <p:nvPr/>
        </p:nvSpPr>
        <p:spPr>
          <a:xfrm>
            <a:off x="280000" y="1380000"/>
            <a:ext cx="22000" cy="480000"/>
          </a:xfrm>
          <a:prstGeom prst="rect">
            <a:avLst/>
          </a:prstGeom>
          <a:solidFill>
            <a:srgbClr val="E8704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3" name="GN0"/>
          <p:cNvSpPr txBox="1"/>
          <p:nvPr/>
        </p:nvSpPr>
        <p:spPr>
          <a:xfrm>
            <a:off x="280000" y="138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E87040"/>
                </a:solidFill>
                <a:latin typeface="Calibri"/>
              </a:rPr>
              <a:t>#1  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>Publicis Media</a:t>
            </a:r>
          </a:p>
        </p:txBody>
      </p:sp>
      <p:sp>
        <p:nvSpPr>
          <p:cNvPr id="414" name="GW0"/>
          <p:cNvSpPr txBox="1"/>
          <p:nvPr/>
        </p:nvSpPr>
        <p:spPr>
          <a:xfrm>
            <a:off x="2630000" y="138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21</a:t>
            </a:r>
          </a:p>
        </p:txBody>
      </p:sp>
      <p:sp>
        <p:nvSpPr>
          <p:cNvPr id="415" name="GD0"/>
          <p:cNvSpPr txBox="1"/>
          <p:nvPr/>
        </p:nvSpPr>
        <p:spPr>
          <a:xfrm>
            <a:off x="3410000" y="138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4</a:t>
            </a:r>
          </a:p>
        </p:txBody>
      </p:sp>
      <p:sp>
        <p:nvSpPr>
          <p:cNvPr id="416" name="GB0"/>
          <p:cNvSpPr txBox="1"/>
          <p:nvPr/>
        </p:nvSpPr>
        <p:spPr>
          <a:xfrm>
            <a:off x="4230000" y="138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3A5E52"/>
                </a:solidFill>
                <a:latin typeface="Calibri"/>
              </a:rPr>
              <a:t>+77M$</a:t>
            </a:r>
          </a:p>
        </p:txBody>
      </p:sp>
      <p:sp>
        <p:nvSpPr>
          <p:cNvPr id="417" name="GWm0"/>
          <p:cNvSpPr txBox="1"/>
          <p:nvPr/>
        </p:nvSpPr>
        <p:spPr>
          <a:xfrm>
            <a:off x="5330000" y="138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+94</a:t>
            </a:r>
          </a:p>
        </p:txBody>
      </p:sp>
      <p:sp>
        <p:nvSpPr>
          <p:cNvPr id="418" name="GDm0"/>
          <p:cNvSpPr txBox="1"/>
          <p:nvPr/>
        </p:nvSpPr>
        <p:spPr>
          <a:xfrm>
            <a:off x="6250000" y="138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-17</a:t>
            </a:r>
          </a:p>
        </p:txBody>
      </p:sp>
      <p:sp>
        <p:nvSpPr>
          <p:cNvPr id="419" name="RBg1"/>
          <p:cNvSpPr/>
          <p:nvPr/>
        </p:nvSpPr>
        <p:spPr>
          <a:xfrm>
            <a:off x="280000" y="1860000"/>
            <a:ext cx="6999675" cy="31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20" name="RSep1"/>
          <p:cNvSpPr/>
          <p:nvPr/>
        </p:nvSpPr>
        <p:spPr>
          <a:xfrm>
            <a:off x="280000" y="216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21" name="AN1"/>
          <p:cNvSpPr txBox="1"/>
          <p:nvPr/>
        </p:nvSpPr>
        <p:spPr>
          <a:xfrm>
            <a:off x="280000" y="186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Spark Foundry</a:t>
            </a:r>
          </a:p>
        </p:txBody>
      </p:sp>
      <p:sp>
        <p:nvSpPr>
          <p:cNvPr id="422" name="AW1"/>
          <p:cNvSpPr txBox="1"/>
          <p:nvPr/>
        </p:nvSpPr>
        <p:spPr>
          <a:xfrm>
            <a:off x="2630000" y="186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423" name="AD1"/>
          <p:cNvSpPr txBox="1"/>
          <p:nvPr/>
        </p:nvSpPr>
        <p:spPr>
          <a:xfrm>
            <a:off x="3410000" y="186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424" name="AB1"/>
          <p:cNvSpPr txBox="1"/>
          <p:nvPr/>
        </p:nvSpPr>
        <p:spPr>
          <a:xfrm>
            <a:off x="4230000" y="186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+42M$</a:t>
            </a:r>
          </a:p>
        </p:txBody>
      </p:sp>
      <p:sp>
        <p:nvSpPr>
          <p:cNvPr id="425" name="AWm1"/>
          <p:cNvSpPr txBox="1"/>
          <p:nvPr/>
        </p:nvSpPr>
        <p:spPr>
          <a:xfrm>
            <a:off x="5330000" y="186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+49</a:t>
            </a:r>
          </a:p>
        </p:txBody>
      </p:sp>
      <p:sp>
        <p:nvSpPr>
          <p:cNvPr id="426" name="ADm1"/>
          <p:cNvSpPr txBox="1"/>
          <p:nvPr/>
        </p:nvSpPr>
        <p:spPr>
          <a:xfrm>
            <a:off x="6250000" y="186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-7</a:t>
            </a:r>
          </a:p>
        </p:txBody>
      </p:sp>
      <p:sp>
        <p:nvSpPr>
          <p:cNvPr id="427" name="RBg2"/>
          <p:cNvSpPr/>
          <p:nvPr/>
        </p:nvSpPr>
        <p:spPr>
          <a:xfrm>
            <a:off x="280000" y="2170000"/>
            <a:ext cx="6999675" cy="31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28" name="RSep2"/>
          <p:cNvSpPr/>
          <p:nvPr/>
        </p:nvSpPr>
        <p:spPr>
          <a:xfrm>
            <a:off x="280000" y="247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29" name="AN2"/>
          <p:cNvSpPr txBox="1"/>
          <p:nvPr/>
        </p:nvSpPr>
        <p:spPr>
          <a:xfrm>
            <a:off x="280000" y="217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Starcom</a:t>
            </a:r>
          </a:p>
        </p:txBody>
      </p:sp>
      <p:sp>
        <p:nvSpPr>
          <p:cNvPr id="430" name="AW2"/>
          <p:cNvSpPr txBox="1"/>
          <p:nvPr/>
        </p:nvSpPr>
        <p:spPr>
          <a:xfrm>
            <a:off x="2630000" y="217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431" name="AD2"/>
          <p:cNvSpPr txBox="1"/>
          <p:nvPr/>
        </p:nvSpPr>
        <p:spPr>
          <a:xfrm>
            <a:off x="3410000" y="217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432" name="AB2"/>
          <p:cNvSpPr txBox="1"/>
          <p:nvPr/>
        </p:nvSpPr>
        <p:spPr>
          <a:xfrm>
            <a:off x="4230000" y="217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+20M$</a:t>
            </a:r>
          </a:p>
        </p:txBody>
      </p:sp>
      <p:sp>
        <p:nvSpPr>
          <p:cNvPr id="433" name="AWm2"/>
          <p:cNvSpPr txBox="1"/>
          <p:nvPr/>
        </p:nvSpPr>
        <p:spPr>
          <a:xfrm>
            <a:off x="5330000" y="217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+20</a:t>
            </a:r>
          </a:p>
        </p:txBody>
      </p:sp>
      <p:sp>
        <p:nvSpPr>
          <p:cNvPr id="434" name="ADm2"/>
          <p:cNvSpPr txBox="1"/>
          <p:nvPr/>
        </p:nvSpPr>
        <p:spPr>
          <a:xfrm>
            <a:off x="6250000" y="217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</a:t>
            </a:r>
          </a:p>
        </p:txBody>
      </p:sp>
      <p:sp>
        <p:nvSpPr>
          <p:cNvPr id="435" name="RBg3"/>
          <p:cNvSpPr/>
          <p:nvPr/>
        </p:nvSpPr>
        <p:spPr>
          <a:xfrm>
            <a:off x="280000" y="2480000"/>
            <a:ext cx="6999675" cy="31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6" name="RSep3"/>
          <p:cNvSpPr/>
          <p:nvPr/>
        </p:nvSpPr>
        <p:spPr>
          <a:xfrm>
            <a:off x="280000" y="278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7" name="AN3"/>
          <p:cNvSpPr txBox="1"/>
          <p:nvPr/>
        </p:nvSpPr>
        <p:spPr>
          <a:xfrm>
            <a:off x="280000" y="248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Zenith</a:t>
            </a:r>
          </a:p>
        </p:txBody>
      </p:sp>
      <p:sp>
        <p:nvSpPr>
          <p:cNvPr id="438" name="AW3"/>
          <p:cNvSpPr txBox="1"/>
          <p:nvPr/>
        </p:nvSpPr>
        <p:spPr>
          <a:xfrm>
            <a:off x="2630000" y="248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sp>
        <p:nvSpPr>
          <p:cNvPr id="439" name="AD3"/>
          <p:cNvSpPr txBox="1"/>
          <p:nvPr/>
        </p:nvSpPr>
        <p:spPr>
          <a:xfrm>
            <a:off x="3410000" y="248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440" name="AB3"/>
          <p:cNvSpPr txBox="1"/>
          <p:nvPr/>
        </p:nvSpPr>
        <p:spPr>
          <a:xfrm>
            <a:off x="4230000" y="248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+15M$</a:t>
            </a:r>
          </a:p>
        </p:txBody>
      </p:sp>
      <p:sp>
        <p:nvSpPr>
          <p:cNvPr id="441" name="AWm3"/>
          <p:cNvSpPr txBox="1"/>
          <p:nvPr/>
        </p:nvSpPr>
        <p:spPr>
          <a:xfrm>
            <a:off x="5330000" y="248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+24</a:t>
            </a:r>
          </a:p>
        </p:txBody>
      </p:sp>
      <p:sp>
        <p:nvSpPr>
          <p:cNvPr id="442" name="ADm3"/>
          <p:cNvSpPr txBox="1"/>
          <p:nvPr/>
        </p:nvSpPr>
        <p:spPr>
          <a:xfrm>
            <a:off x="6250000" y="248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-9</a:t>
            </a:r>
          </a:p>
        </p:txBody>
      </p:sp>
      <p:sp>
        <p:nvSpPr>
          <p:cNvPr id="443" name="RBg4"/>
          <p:cNvSpPr/>
          <p:nvPr/>
        </p:nvSpPr>
        <p:spPr>
          <a:xfrm>
            <a:off x="280000" y="2850000"/>
            <a:ext cx="6999675" cy="48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44" name="RSep4"/>
          <p:cNvSpPr/>
          <p:nvPr/>
        </p:nvSpPr>
        <p:spPr>
          <a:xfrm>
            <a:off x="280000" y="332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45" name="Stripe4"/>
          <p:cNvSpPr/>
          <p:nvPr/>
        </p:nvSpPr>
        <p:spPr>
          <a:xfrm>
            <a:off x="280000" y="2850000"/>
            <a:ext cx="22000" cy="480000"/>
          </a:xfrm>
          <a:prstGeom prst="rect">
            <a:avLst/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46" name="GN4"/>
          <p:cNvSpPr txBox="1"/>
          <p:nvPr/>
        </p:nvSpPr>
        <p:spPr>
          <a:xfrm>
            <a:off x="280000" y="285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C49600"/>
                </a:solidFill>
                <a:latin typeface="Calibri"/>
              </a:rPr>
              <a:t>#2  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>Omnicom</a:t>
            </a:r>
          </a:p>
        </p:txBody>
      </p:sp>
      <p:sp>
        <p:nvSpPr>
          <p:cNvPr id="447" name="GW4"/>
          <p:cNvSpPr txBox="1"/>
          <p:nvPr/>
        </p:nvSpPr>
        <p:spPr>
          <a:xfrm>
            <a:off x="2630000" y="285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23</a:t>
            </a:r>
          </a:p>
        </p:txBody>
      </p:sp>
      <p:sp>
        <p:nvSpPr>
          <p:cNvPr id="448" name="GD4"/>
          <p:cNvSpPr txBox="1"/>
          <p:nvPr/>
        </p:nvSpPr>
        <p:spPr>
          <a:xfrm>
            <a:off x="3410000" y="285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9</a:t>
            </a:r>
          </a:p>
        </p:txBody>
      </p:sp>
      <p:sp>
        <p:nvSpPr>
          <p:cNvPr id="449" name="GB4"/>
          <p:cNvSpPr txBox="1"/>
          <p:nvPr/>
        </p:nvSpPr>
        <p:spPr>
          <a:xfrm>
            <a:off x="4230000" y="285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3A5E52"/>
                </a:solidFill>
                <a:latin typeface="Calibri"/>
              </a:rPr>
              <a:t>+36M$</a:t>
            </a:r>
          </a:p>
        </p:txBody>
      </p:sp>
      <p:sp>
        <p:nvSpPr>
          <p:cNvPr id="450" name="GWm4"/>
          <p:cNvSpPr txBox="1"/>
          <p:nvPr/>
        </p:nvSpPr>
        <p:spPr>
          <a:xfrm>
            <a:off x="5330000" y="285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+76</a:t>
            </a:r>
          </a:p>
        </p:txBody>
      </p:sp>
      <p:sp>
        <p:nvSpPr>
          <p:cNvPr id="451" name="GDm4"/>
          <p:cNvSpPr txBox="1"/>
          <p:nvPr/>
        </p:nvSpPr>
        <p:spPr>
          <a:xfrm>
            <a:off x="6250000" y="285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-40</a:t>
            </a:r>
          </a:p>
        </p:txBody>
      </p:sp>
      <p:sp>
        <p:nvSpPr>
          <p:cNvPr id="452" name="RBg5"/>
          <p:cNvSpPr/>
          <p:nvPr/>
        </p:nvSpPr>
        <p:spPr>
          <a:xfrm>
            <a:off x="280000" y="333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53" name="RSep5"/>
          <p:cNvSpPr/>
          <p:nvPr/>
        </p:nvSpPr>
        <p:spPr>
          <a:xfrm>
            <a:off x="280000" y="363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54" name="AN5"/>
          <p:cNvSpPr txBox="1"/>
          <p:nvPr/>
        </p:nvSpPr>
        <p:spPr>
          <a:xfrm>
            <a:off x="280000" y="333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PHD</a:t>
            </a:r>
          </a:p>
        </p:txBody>
      </p:sp>
      <p:sp>
        <p:nvSpPr>
          <p:cNvPr id="455" name="AW5"/>
          <p:cNvSpPr txBox="1"/>
          <p:nvPr/>
        </p:nvSpPr>
        <p:spPr>
          <a:xfrm>
            <a:off x="2630000" y="333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456" name="AD5"/>
          <p:cNvSpPr txBox="1"/>
          <p:nvPr/>
        </p:nvSpPr>
        <p:spPr>
          <a:xfrm>
            <a:off x="3410000" y="333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457" name="AB5"/>
          <p:cNvSpPr txBox="1"/>
          <p:nvPr/>
        </p:nvSpPr>
        <p:spPr>
          <a:xfrm>
            <a:off x="4230000" y="333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+17M$</a:t>
            </a:r>
          </a:p>
        </p:txBody>
      </p:sp>
      <p:sp>
        <p:nvSpPr>
          <p:cNvPr id="458" name="AWm5"/>
          <p:cNvSpPr txBox="1"/>
          <p:nvPr/>
        </p:nvSpPr>
        <p:spPr>
          <a:xfrm>
            <a:off x="5330000" y="333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+26</a:t>
            </a:r>
          </a:p>
        </p:txBody>
      </p:sp>
      <p:sp>
        <p:nvSpPr>
          <p:cNvPr id="459" name="ADm5"/>
          <p:cNvSpPr txBox="1"/>
          <p:nvPr/>
        </p:nvSpPr>
        <p:spPr>
          <a:xfrm>
            <a:off x="6250000" y="333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-9</a:t>
            </a:r>
          </a:p>
        </p:txBody>
      </p:sp>
      <p:sp>
        <p:nvSpPr>
          <p:cNvPr id="460" name="RBg6"/>
          <p:cNvSpPr/>
          <p:nvPr/>
        </p:nvSpPr>
        <p:spPr>
          <a:xfrm>
            <a:off x="280000" y="364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1" name="RSep6"/>
          <p:cNvSpPr/>
          <p:nvPr/>
        </p:nvSpPr>
        <p:spPr>
          <a:xfrm>
            <a:off x="280000" y="394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2" name="AN6"/>
          <p:cNvSpPr txBox="1"/>
          <p:nvPr/>
        </p:nvSpPr>
        <p:spPr>
          <a:xfrm>
            <a:off x="280000" y="364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UM incl. Init.</a:t>
            </a:r>
          </a:p>
        </p:txBody>
      </p:sp>
      <p:sp>
        <p:nvSpPr>
          <p:cNvPr id="463" name="AW6"/>
          <p:cNvSpPr txBox="1"/>
          <p:nvPr/>
        </p:nvSpPr>
        <p:spPr>
          <a:xfrm>
            <a:off x="2630000" y="364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464" name="AD6"/>
          <p:cNvSpPr txBox="1"/>
          <p:nvPr/>
        </p:nvSpPr>
        <p:spPr>
          <a:xfrm>
            <a:off x="3410000" y="364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465" name="AB6"/>
          <p:cNvSpPr txBox="1"/>
          <p:nvPr/>
        </p:nvSpPr>
        <p:spPr>
          <a:xfrm>
            <a:off x="4230000" y="364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+13M$</a:t>
            </a:r>
          </a:p>
        </p:txBody>
      </p:sp>
      <p:sp>
        <p:nvSpPr>
          <p:cNvPr id="466" name="AWm6"/>
          <p:cNvSpPr txBox="1"/>
          <p:nvPr/>
        </p:nvSpPr>
        <p:spPr>
          <a:xfrm>
            <a:off x="5330000" y="364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+25</a:t>
            </a:r>
          </a:p>
        </p:txBody>
      </p:sp>
      <p:sp>
        <p:nvSpPr>
          <p:cNvPr id="467" name="ADm6"/>
          <p:cNvSpPr txBox="1"/>
          <p:nvPr/>
        </p:nvSpPr>
        <p:spPr>
          <a:xfrm>
            <a:off x="6250000" y="364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-12</a:t>
            </a:r>
          </a:p>
        </p:txBody>
      </p:sp>
      <p:sp>
        <p:nvSpPr>
          <p:cNvPr id="468" name="RBg7"/>
          <p:cNvSpPr/>
          <p:nvPr/>
        </p:nvSpPr>
        <p:spPr>
          <a:xfrm>
            <a:off x="280000" y="395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9" name="RSep7"/>
          <p:cNvSpPr/>
          <p:nvPr/>
        </p:nvSpPr>
        <p:spPr>
          <a:xfrm>
            <a:off x="280000" y="425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0" name="AN7"/>
          <p:cNvSpPr txBox="1"/>
          <p:nvPr/>
        </p:nvSpPr>
        <p:spPr>
          <a:xfrm>
            <a:off x="280000" y="395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OMD</a:t>
            </a:r>
          </a:p>
        </p:txBody>
      </p:sp>
      <p:sp>
        <p:nvSpPr>
          <p:cNvPr id="471" name="AW7"/>
          <p:cNvSpPr txBox="1"/>
          <p:nvPr/>
        </p:nvSpPr>
        <p:spPr>
          <a:xfrm>
            <a:off x="2630000" y="395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472" name="AD7"/>
          <p:cNvSpPr txBox="1"/>
          <p:nvPr/>
        </p:nvSpPr>
        <p:spPr>
          <a:xfrm>
            <a:off x="3410000" y="395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473" name="AB7"/>
          <p:cNvSpPr txBox="1"/>
          <p:nvPr/>
        </p:nvSpPr>
        <p:spPr>
          <a:xfrm>
            <a:off x="4230000" y="395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+6M$</a:t>
            </a:r>
          </a:p>
        </p:txBody>
      </p:sp>
      <p:sp>
        <p:nvSpPr>
          <p:cNvPr id="474" name="AWm7"/>
          <p:cNvSpPr txBox="1"/>
          <p:nvPr/>
        </p:nvSpPr>
        <p:spPr>
          <a:xfrm>
            <a:off x="5330000" y="395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+25</a:t>
            </a:r>
          </a:p>
        </p:txBody>
      </p:sp>
      <p:sp>
        <p:nvSpPr>
          <p:cNvPr id="475" name="ADm7"/>
          <p:cNvSpPr txBox="1"/>
          <p:nvPr/>
        </p:nvSpPr>
        <p:spPr>
          <a:xfrm>
            <a:off x="6250000" y="395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-19</a:t>
            </a:r>
          </a:p>
        </p:txBody>
      </p:sp>
      <p:sp>
        <p:nvSpPr>
          <p:cNvPr id="476" name="RBg8"/>
          <p:cNvSpPr/>
          <p:nvPr/>
        </p:nvSpPr>
        <p:spPr>
          <a:xfrm>
            <a:off x="280000" y="4290000"/>
            <a:ext cx="6999675" cy="40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7" name="RSep8"/>
          <p:cNvSpPr/>
          <p:nvPr/>
        </p:nvSpPr>
        <p:spPr>
          <a:xfrm>
            <a:off x="280000" y="468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8" name="Stripe8"/>
          <p:cNvSpPr/>
          <p:nvPr/>
        </p:nvSpPr>
        <p:spPr>
          <a:xfrm>
            <a:off x="280000" y="4290000"/>
            <a:ext cx="14000" cy="400000"/>
          </a:xfrm>
          <a:prstGeom prst="rect">
            <a:avLst/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9" name="GN8"/>
          <p:cNvSpPr txBox="1"/>
          <p:nvPr/>
        </p:nvSpPr>
        <p:spPr>
          <a:xfrm>
            <a:off x="280000" y="4290000"/>
            <a:ext cx="23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20000" tIns="0" rIns="40000" bIns="0" anchor="ctr"/>
          <a:lstStyle/>
          <a:p>
            <a:pPr algn="l"/>
            <a:r>
              <a:rPr lang="en-US" sz="1050" b="0" dirty="0">
                <a:solidFill>
                  <a:srgbClr val="5A6A66"/>
                </a:solidFill>
                <a:latin typeface="Calibri"/>
              </a:rPr>
              <a:t>Omnicom Media Gr</a:t>
            </a:r>
          </a:p>
        </p:txBody>
      </p:sp>
      <p:sp>
        <p:nvSpPr>
          <p:cNvPr id="480" name="GW8"/>
          <p:cNvSpPr txBox="1"/>
          <p:nvPr/>
        </p:nvSpPr>
        <p:spPr>
          <a:xfrm>
            <a:off x="2630000" y="4290000"/>
            <a:ext cx="7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1F2D2A"/>
                </a:solidFill>
                <a:latin typeface="Calibri"/>
              </a:rPr>
              <a:t>17</a:t>
            </a:r>
          </a:p>
        </p:txBody>
      </p:sp>
      <p:sp>
        <p:nvSpPr>
          <p:cNvPr id="481" name="GD8"/>
          <p:cNvSpPr txBox="1"/>
          <p:nvPr/>
        </p:nvSpPr>
        <p:spPr>
          <a:xfrm>
            <a:off x="3410000" y="4290000"/>
            <a:ext cx="8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1F2D2A"/>
                </a:solidFill>
                <a:latin typeface="Calibri"/>
              </a:rPr>
              <a:t>7</a:t>
            </a:r>
          </a:p>
        </p:txBody>
      </p:sp>
      <p:sp>
        <p:nvSpPr>
          <p:cNvPr id="482" name="GB8"/>
          <p:cNvSpPr txBox="1"/>
          <p:nvPr/>
        </p:nvSpPr>
        <p:spPr>
          <a:xfrm>
            <a:off x="4230000" y="4290000"/>
            <a:ext cx="11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00" b="1" dirty="0">
                <a:solidFill>
                  <a:srgbClr val="3A5E52"/>
                </a:solidFill>
                <a:latin typeface="Calibri"/>
              </a:rPr>
              <a:t>+23M$</a:t>
            </a:r>
          </a:p>
        </p:txBody>
      </p:sp>
      <p:sp>
        <p:nvSpPr>
          <p:cNvPr id="483" name="GWm8"/>
          <p:cNvSpPr txBox="1"/>
          <p:nvPr/>
        </p:nvSpPr>
        <p:spPr>
          <a:xfrm>
            <a:off x="5330000" y="4290000"/>
            <a:ext cx="9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+51</a:t>
            </a:r>
          </a:p>
        </p:txBody>
      </p:sp>
      <p:sp>
        <p:nvSpPr>
          <p:cNvPr id="484" name="GDm8"/>
          <p:cNvSpPr txBox="1"/>
          <p:nvPr/>
        </p:nvSpPr>
        <p:spPr>
          <a:xfrm>
            <a:off x="6250000" y="4290000"/>
            <a:ext cx="1029675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-28</a:t>
            </a:r>
          </a:p>
        </p:txBody>
      </p:sp>
      <p:sp>
        <p:nvSpPr>
          <p:cNvPr id="485" name="RBg9"/>
          <p:cNvSpPr/>
          <p:nvPr/>
        </p:nvSpPr>
        <p:spPr>
          <a:xfrm>
            <a:off x="280000" y="469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86" name="RSep9"/>
          <p:cNvSpPr/>
          <p:nvPr/>
        </p:nvSpPr>
        <p:spPr>
          <a:xfrm>
            <a:off x="280000" y="499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87" name="AN9"/>
          <p:cNvSpPr txBox="1"/>
          <p:nvPr/>
        </p:nvSpPr>
        <p:spPr>
          <a:xfrm>
            <a:off x="280000" y="469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PHD</a:t>
            </a:r>
          </a:p>
        </p:txBody>
      </p:sp>
      <p:sp>
        <p:nvSpPr>
          <p:cNvPr id="488" name="AW9"/>
          <p:cNvSpPr txBox="1"/>
          <p:nvPr/>
        </p:nvSpPr>
        <p:spPr>
          <a:xfrm>
            <a:off x="2630000" y="469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489" name="AD9"/>
          <p:cNvSpPr txBox="1"/>
          <p:nvPr/>
        </p:nvSpPr>
        <p:spPr>
          <a:xfrm>
            <a:off x="3410000" y="469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490" name="AB9"/>
          <p:cNvSpPr txBox="1"/>
          <p:nvPr/>
        </p:nvSpPr>
        <p:spPr>
          <a:xfrm>
            <a:off x="4230000" y="469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+17M$</a:t>
            </a:r>
          </a:p>
        </p:txBody>
      </p:sp>
      <p:sp>
        <p:nvSpPr>
          <p:cNvPr id="491" name="AWm9"/>
          <p:cNvSpPr txBox="1"/>
          <p:nvPr/>
        </p:nvSpPr>
        <p:spPr>
          <a:xfrm>
            <a:off x="5330000" y="469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+26</a:t>
            </a:r>
          </a:p>
        </p:txBody>
      </p:sp>
      <p:sp>
        <p:nvSpPr>
          <p:cNvPr id="492" name="ADm9"/>
          <p:cNvSpPr txBox="1"/>
          <p:nvPr/>
        </p:nvSpPr>
        <p:spPr>
          <a:xfrm>
            <a:off x="6250000" y="469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-9</a:t>
            </a:r>
          </a:p>
        </p:txBody>
      </p:sp>
      <p:sp>
        <p:nvSpPr>
          <p:cNvPr id="493" name="RBg10"/>
          <p:cNvSpPr/>
          <p:nvPr/>
        </p:nvSpPr>
        <p:spPr>
          <a:xfrm>
            <a:off x="280000" y="500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4" name="RSep10"/>
          <p:cNvSpPr/>
          <p:nvPr/>
        </p:nvSpPr>
        <p:spPr>
          <a:xfrm>
            <a:off x="280000" y="530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5" name="AN10"/>
          <p:cNvSpPr txBox="1"/>
          <p:nvPr/>
        </p:nvSpPr>
        <p:spPr>
          <a:xfrm>
            <a:off x="280000" y="500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OMD</a:t>
            </a:r>
          </a:p>
        </p:txBody>
      </p:sp>
      <p:sp>
        <p:nvSpPr>
          <p:cNvPr id="496" name="AW10"/>
          <p:cNvSpPr txBox="1"/>
          <p:nvPr/>
        </p:nvSpPr>
        <p:spPr>
          <a:xfrm>
            <a:off x="2630000" y="500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497" name="AD10"/>
          <p:cNvSpPr txBox="1"/>
          <p:nvPr/>
        </p:nvSpPr>
        <p:spPr>
          <a:xfrm>
            <a:off x="3410000" y="500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498" name="AB10"/>
          <p:cNvSpPr txBox="1"/>
          <p:nvPr/>
        </p:nvSpPr>
        <p:spPr>
          <a:xfrm>
            <a:off x="4230000" y="500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+6M$</a:t>
            </a:r>
          </a:p>
        </p:txBody>
      </p:sp>
      <p:sp>
        <p:nvSpPr>
          <p:cNvPr id="499" name="AWm10"/>
          <p:cNvSpPr txBox="1"/>
          <p:nvPr/>
        </p:nvSpPr>
        <p:spPr>
          <a:xfrm>
            <a:off x="5330000" y="500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+25</a:t>
            </a:r>
          </a:p>
        </p:txBody>
      </p:sp>
      <p:sp>
        <p:nvSpPr>
          <p:cNvPr id="500" name="ADm10"/>
          <p:cNvSpPr txBox="1"/>
          <p:nvPr/>
        </p:nvSpPr>
        <p:spPr>
          <a:xfrm>
            <a:off x="6250000" y="500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-19</a:t>
            </a:r>
          </a:p>
        </p:txBody>
      </p:sp>
      <p:sp>
        <p:nvSpPr>
          <p:cNvPr id="501" name="RBg11"/>
          <p:cNvSpPr/>
          <p:nvPr/>
        </p:nvSpPr>
        <p:spPr>
          <a:xfrm>
            <a:off x="280000" y="5370000"/>
            <a:ext cx="6999675" cy="48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2" name="RSep11"/>
          <p:cNvSpPr/>
          <p:nvPr/>
        </p:nvSpPr>
        <p:spPr>
          <a:xfrm>
            <a:off x="280000" y="584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3" name="Stripe11"/>
          <p:cNvSpPr/>
          <p:nvPr/>
        </p:nvSpPr>
        <p:spPr>
          <a:xfrm>
            <a:off x="280000" y="5370000"/>
            <a:ext cx="22000" cy="480000"/>
          </a:xfrm>
          <a:prstGeom prst="rect">
            <a:avLst/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4" name="GN11"/>
          <p:cNvSpPr txBox="1"/>
          <p:nvPr/>
        </p:nvSpPr>
        <p:spPr>
          <a:xfrm>
            <a:off x="280000" y="537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3E7A30"/>
                </a:solidFill>
                <a:latin typeface="Calibri"/>
              </a:rPr>
              <a:t>#3  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>Dentsu</a:t>
            </a:r>
          </a:p>
        </p:txBody>
      </p:sp>
      <p:sp>
        <p:nvSpPr>
          <p:cNvPr id="505" name="GW11"/>
          <p:cNvSpPr txBox="1"/>
          <p:nvPr/>
        </p:nvSpPr>
        <p:spPr>
          <a:xfrm>
            <a:off x="2630000" y="537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8</a:t>
            </a:r>
          </a:p>
        </p:txBody>
      </p:sp>
      <p:sp>
        <p:nvSpPr>
          <p:cNvPr id="506" name="GD11"/>
          <p:cNvSpPr txBox="1"/>
          <p:nvPr/>
        </p:nvSpPr>
        <p:spPr>
          <a:xfrm>
            <a:off x="3410000" y="537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6</a:t>
            </a:r>
          </a:p>
        </p:txBody>
      </p:sp>
      <p:sp>
        <p:nvSpPr>
          <p:cNvPr id="507" name="GB11"/>
          <p:cNvSpPr txBox="1"/>
          <p:nvPr/>
        </p:nvSpPr>
        <p:spPr>
          <a:xfrm>
            <a:off x="4230000" y="537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3A5E52"/>
                </a:solidFill>
                <a:latin typeface="Calibri"/>
              </a:rPr>
              <a:t>+20M$</a:t>
            </a:r>
          </a:p>
        </p:txBody>
      </p:sp>
      <p:sp>
        <p:nvSpPr>
          <p:cNvPr id="508" name="GWm11"/>
          <p:cNvSpPr txBox="1"/>
          <p:nvPr/>
        </p:nvSpPr>
        <p:spPr>
          <a:xfrm>
            <a:off x="5330000" y="537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+38</a:t>
            </a:r>
          </a:p>
        </p:txBody>
      </p:sp>
      <p:sp>
        <p:nvSpPr>
          <p:cNvPr id="509" name="GDm11"/>
          <p:cNvSpPr txBox="1"/>
          <p:nvPr/>
        </p:nvSpPr>
        <p:spPr>
          <a:xfrm>
            <a:off x="6250000" y="537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-18</a:t>
            </a:r>
          </a:p>
        </p:txBody>
      </p:sp>
      <p:sp>
        <p:nvSpPr>
          <p:cNvPr id="510" name="RBg12"/>
          <p:cNvSpPr/>
          <p:nvPr/>
        </p:nvSpPr>
        <p:spPr>
          <a:xfrm>
            <a:off x="280000" y="5850000"/>
            <a:ext cx="6999675" cy="3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1" name="RSep12"/>
          <p:cNvSpPr/>
          <p:nvPr/>
        </p:nvSpPr>
        <p:spPr>
          <a:xfrm>
            <a:off x="280000" y="615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2" name="AN12"/>
          <p:cNvSpPr txBox="1"/>
          <p:nvPr/>
        </p:nvSpPr>
        <p:spPr>
          <a:xfrm>
            <a:off x="280000" y="585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dentsu X</a:t>
            </a:r>
          </a:p>
        </p:txBody>
      </p:sp>
      <p:sp>
        <p:nvSpPr>
          <p:cNvPr id="513" name="AW12"/>
          <p:cNvSpPr txBox="1"/>
          <p:nvPr/>
        </p:nvSpPr>
        <p:spPr>
          <a:xfrm>
            <a:off x="2630000" y="585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514" name="AD12"/>
          <p:cNvSpPr txBox="1"/>
          <p:nvPr/>
        </p:nvSpPr>
        <p:spPr>
          <a:xfrm>
            <a:off x="3410000" y="585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515" name="AB12"/>
          <p:cNvSpPr txBox="1"/>
          <p:nvPr/>
        </p:nvSpPr>
        <p:spPr>
          <a:xfrm>
            <a:off x="4230000" y="585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+27M$</a:t>
            </a:r>
          </a:p>
        </p:txBody>
      </p:sp>
      <p:sp>
        <p:nvSpPr>
          <p:cNvPr id="516" name="AWm12"/>
          <p:cNvSpPr txBox="1"/>
          <p:nvPr/>
        </p:nvSpPr>
        <p:spPr>
          <a:xfrm>
            <a:off x="5330000" y="585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+28</a:t>
            </a:r>
          </a:p>
        </p:txBody>
      </p:sp>
      <p:sp>
        <p:nvSpPr>
          <p:cNvPr id="517" name="ADm12"/>
          <p:cNvSpPr txBox="1"/>
          <p:nvPr/>
        </p:nvSpPr>
        <p:spPr>
          <a:xfrm>
            <a:off x="6250000" y="585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</a:t>
            </a:r>
          </a:p>
        </p:txBody>
      </p:sp>
      <p:sp>
        <p:nvSpPr>
          <p:cNvPr id="518" name="RBg13"/>
          <p:cNvSpPr/>
          <p:nvPr/>
        </p:nvSpPr>
        <p:spPr>
          <a:xfrm>
            <a:off x="280000" y="6160000"/>
            <a:ext cx="6999675" cy="3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9" name="RSep13"/>
          <p:cNvSpPr/>
          <p:nvPr/>
        </p:nvSpPr>
        <p:spPr>
          <a:xfrm>
            <a:off x="280000" y="646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0" name="AN13"/>
          <p:cNvSpPr txBox="1"/>
          <p:nvPr/>
        </p:nvSpPr>
        <p:spPr>
          <a:xfrm>
            <a:off x="280000" y="616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iProspect</a:t>
            </a:r>
          </a:p>
        </p:txBody>
      </p:sp>
      <p:sp>
        <p:nvSpPr>
          <p:cNvPr id="521" name="AW13"/>
          <p:cNvSpPr txBox="1"/>
          <p:nvPr/>
        </p:nvSpPr>
        <p:spPr>
          <a:xfrm>
            <a:off x="2630000" y="616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522" name="AD13"/>
          <p:cNvSpPr txBox="1"/>
          <p:nvPr/>
        </p:nvSpPr>
        <p:spPr>
          <a:xfrm>
            <a:off x="3410000" y="616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0</a:t>
            </a:r>
          </a:p>
        </p:txBody>
      </p:sp>
      <p:sp>
        <p:nvSpPr>
          <p:cNvPr id="523" name="AB13"/>
          <p:cNvSpPr txBox="1"/>
          <p:nvPr/>
        </p:nvSpPr>
        <p:spPr>
          <a:xfrm>
            <a:off x="4230000" y="616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+2M$</a:t>
            </a:r>
          </a:p>
        </p:txBody>
      </p:sp>
      <p:sp>
        <p:nvSpPr>
          <p:cNvPr id="524" name="AWm13"/>
          <p:cNvSpPr txBox="1"/>
          <p:nvPr/>
        </p:nvSpPr>
        <p:spPr>
          <a:xfrm>
            <a:off x="5330000" y="616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</a:t>
            </a:r>
          </a:p>
        </p:txBody>
      </p:sp>
      <p:sp>
        <p:nvSpPr>
          <p:cNvPr id="525" name="ADm13"/>
          <p:cNvSpPr txBox="1"/>
          <p:nvPr/>
        </p:nvSpPr>
        <p:spPr>
          <a:xfrm>
            <a:off x="6250000" y="616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666666"/>
                </a:solidFill>
                <a:latin typeface="Calibri"/>
              </a:rPr>
              <a:t>0</a:t>
            </a:r>
          </a:p>
        </p:txBody>
      </p:sp>
      <p:sp>
        <p:nvSpPr>
          <p:cNvPr id="526" name="RBg14"/>
          <p:cNvSpPr/>
          <p:nvPr/>
        </p:nvSpPr>
        <p:spPr>
          <a:xfrm>
            <a:off x="280000" y="6470000"/>
            <a:ext cx="6999675" cy="3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7" name="RSep14"/>
          <p:cNvSpPr/>
          <p:nvPr/>
        </p:nvSpPr>
        <p:spPr>
          <a:xfrm>
            <a:off x="280000" y="677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8" name="AN14"/>
          <p:cNvSpPr txBox="1"/>
          <p:nvPr/>
        </p:nvSpPr>
        <p:spPr>
          <a:xfrm>
            <a:off x="280000" y="647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Carat</a:t>
            </a:r>
          </a:p>
        </p:txBody>
      </p:sp>
      <p:sp>
        <p:nvSpPr>
          <p:cNvPr id="529" name="AW14"/>
          <p:cNvSpPr txBox="1"/>
          <p:nvPr/>
        </p:nvSpPr>
        <p:spPr>
          <a:xfrm>
            <a:off x="2630000" y="647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530" name="AD14"/>
          <p:cNvSpPr txBox="1"/>
          <p:nvPr/>
        </p:nvSpPr>
        <p:spPr>
          <a:xfrm>
            <a:off x="3410000" y="647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531" name="AB14"/>
          <p:cNvSpPr txBox="1"/>
          <p:nvPr/>
        </p:nvSpPr>
        <p:spPr>
          <a:xfrm>
            <a:off x="4230000" y="647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A02828"/>
                </a:solidFill>
                <a:latin typeface="Calibri"/>
              </a:rPr>
              <a:t>-8M$</a:t>
            </a:r>
          </a:p>
        </p:txBody>
      </p:sp>
      <p:sp>
        <p:nvSpPr>
          <p:cNvPr id="532" name="AWm14"/>
          <p:cNvSpPr txBox="1"/>
          <p:nvPr/>
        </p:nvSpPr>
        <p:spPr>
          <a:xfrm>
            <a:off x="5330000" y="647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+9</a:t>
            </a:r>
          </a:p>
        </p:txBody>
      </p:sp>
      <p:sp>
        <p:nvSpPr>
          <p:cNvPr id="533" name="ADm14"/>
          <p:cNvSpPr txBox="1"/>
          <p:nvPr/>
        </p:nvSpPr>
        <p:spPr>
          <a:xfrm>
            <a:off x="6250000" y="647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-17</a:t>
            </a:r>
          </a:p>
        </p:txBody>
      </p:sp>
      <p:sp>
        <p:nvSpPr>
          <p:cNvPr id="534" name="RBg15"/>
          <p:cNvSpPr/>
          <p:nvPr/>
        </p:nvSpPr>
        <p:spPr>
          <a:xfrm>
            <a:off x="280000" y="6810000"/>
            <a:ext cx="6999675" cy="40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5" name="RSep15"/>
          <p:cNvSpPr/>
          <p:nvPr/>
        </p:nvSpPr>
        <p:spPr>
          <a:xfrm>
            <a:off x="280000" y="720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6" name="Stripe15"/>
          <p:cNvSpPr/>
          <p:nvPr/>
        </p:nvSpPr>
        <p:spPr>
          <a:xfrm>
            <a:off x="280000" y="6810000"/>
            <a:ext cx="14000" cy="400000"/>
          </a:xfrm>
          <a:prstGeom prst="rect">
            <a:avLst/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7" name="GN15"/>
          <p:cNvSpPr txBox="1"/>
          <p:nvPr/>
        </p:nvSpPr>
        <p:spPr>
          <a:xfrm>
            <a:off x="280000" y="6810000"/>
            <a:ext cx="23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20000" tIns="0" rIns="40000" bIns="0" anchor="ctr"/>
          <a:lstStyle/>
          <a:p>
            <a:pPr algn="l"/>
            <a:r>
              <a:rPr lang="en-US" sz="1050" b="0" dirty="0">
                <a:solidFill>
                  <a:srgbClr val="5A6A66"/>
                </a:solidFill>
                <a:latin typeface="Calibri"/>
              </a:rPr>
              <a:t>Mediabrands</a:t>
            </a:r>
          </a:p>
        </p:txBody>
      </p:sp>
      <p:sp>
        <p:nvSpPr>
          <p:cNvPr id="538" name="GW15"/>
          <p:cNvSpPr txBox="1"/>
          <p:nvPr/>
        </p:nvSpPr>
        <p:spPr>
          <a:xfrm>
            <a:off x="2630000" y="6810000"/>
            <a:ext cx="7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1F2D2A"/>
                </a:solidFill>
                <a:latin typeface="Calibri"/>
              </a:rPr>
              <a:t>6</a:t>
            </a:r>
          </a:p>
        </p:txBody>
      </p:sp>
      <p:sp>
        <p:nvSpPr>
          <p:cNvPr id="539" name="GD15"/>
          <p:cNvSpPr txBox="1"/>
          <p:nvPr/>
        </p:nvSpPr>
        <p:spPr>
          <a:xfrm>
            <a:off x="3410000" y="6810000"/>
            <a:ext cx="8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1F2D2A"/>
                </a:solidFill>
                <a:latin typeface="Calibri"/>
              </a:rPr>
              <a:t>2</a:t>
            </a:r>
          </a:p>
        </p:txBody>
      </p:sp>
      <p:sp>
        <p:nvSpPr>
          <p:cNvPr id="540" name="GB15"/>
          <p:cNvSpPr txBox="1"/>
          <p:nvPr/>
        </p:nvSpPr>
        <p:spPr>
          <a:xfrm>
            <a:off x="4230000" y="6810000"/>
            <a:ext cx="11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00" b="1" dirty="0">
                <a:solidFill>
                  <a:srgbClr val="3A5E52"/>
                </a:solidFill>
                <a:latin typeface="Calibri"/>
              </a:rPr>
              <a:t>+13M$</a:t>
            </a:r>
          </a:p>
        </p:txBody>
      </p:sp>
      <p:sp>
        <p:nvSpPr>
          <p:cNvPr id="541" name="GWm15"/>
          <p:cNvSpPr txBox="1"/>
          <p:nvPr/>
        </p:nvSpPr>
        <p:spPr>
          <a:xfrm>
            <a:off x="5330000" y="6810000"/>
            <a:ext cx="9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+25</a:t>
            </a:r>
          </a:p>
        </p:txBody>
      </p:sp>
      <p:sp>
        <p:nvSpPr>
          <p:cNvPr id="542" name="GDm15"/>
          <p:cNvSpPr txBox="1"/>
          <p:nvPr/>
        </p:nvSpPr>
        <p:spPr>
          <a:xfrm>
            <a:off x="6250000" y="6810000"/>
            <a:ext cx="1029675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-12</a:t>
            </a:r>
          </a:p>
        </p:txBody>
      </p:sp>
      <p:sp>
        <p:nvSpPr>
          <p:cNvPr id="543" name="RBg16"/>
          <p:cNvSpPr/>
          <p:nvPr/>
        </p:nvSpPr>
        <p:spPr>
          <a:xfrm>
            <a:off x="280000" y="7210000"/>
            <a:ext cx="6999675" cy="3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4" name="RSep16"/>
          <p:cNvSpPr/>
          <p:nvPr/>
        </p:nvSpPr>
        <p:spPr>
          <a:xfrm>
            <a:off x="280000" y="751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5" name="AN16"/>
          <p:cNvSpPr txBox="1"/>
          <p:nvPr/>
        </p:nvSpPr>
        <p:spPr>
          <a:xfrm>
            <a:off x="280000" y="721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UM incl. Init.</a:t>
            </a:r>
          </a:p>
        </p:txBody>
      </p:sp>
      <p:sp>
        <p:nvSpPr>
          <p:cNvPr id="546" name="AW16"/>
          <p:cNvSpPr txBox="1"/>
          <p:nvPr/>
        </p:nvSpPr>
        <p:spPr>
          <a:xfrm>
            <a:off x="2630000" y="721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547" name="AD16"/>
          <p:cNvSpPr txBox="1"/>
          <p:nvPr/>
        </p:nvSpPr>
        <p:spPr>
          <a:xfrm>
            <a:off x="3410000" y="721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48" name="AB16"/>
          <p:cNvSpPr txBox="1"/>
          <p:nvPr/>
        </p:nvSpPr>
        <p:spPr>
          <a:xfrm>
            <a:off x="4230000" y="721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+13M$</a:t>
            </a:r>
          </a:p>
        </p:txBody>
      </p:sp>
      <p:sp>
        <p:nvSpPr>
          <p:cNvPr id="549" name="AWm16"/>
          <p:cNvSpPr txBox="1"/>
          <p:nvPr/>
        </p:nvSpPr>
        <p:spPr>
          <a:xfrm>
            <a:off x="5330000" y="721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+25</a:t>
            </a:r>
          </a:p>
        </p:txBody>
      </p:sp>
      <p:sp>
        <p:nvSpPr>
          <p:cNvPr id="550" name="ADm16"/>
          <p:cNvSpPr txBox="1"/>
          <p:nvPr/>
        </p:nvSpPr>
        <p:spPr>
          <a:xfrm>
            <a:off x="6250000" y="721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-12</a:t>
            </a:r>
          </a:p>
        </p:txBody>
      </p:sp>
      <p:sp>
        <p:nvSpPr>
          <p:cNvPr id="551" name="RBg17"/>
          <p:cNvSpPr/>
          <p:nvPr/>
        </p:nvSpPr>
        <p:spPr>
          <a:xfrm>
            <a:off x="280000" y="7580000"/>
            <a:ext cx="6999675" cy="480000"/>
          </a:xfrm>
          <a:prstGeom prst="rect">
            <a:avLst/>
          </a:prstGeom>
          <a:solidFill>
            <a:srgbClr val="DCB9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2" name="RSep17"/>
          <p:cNvSpPr/>
          <p:nvPr/>
        </p:nvSpPr>
        <p:spPr>
          <a:xfrm>
            <a:off x="280000" y="805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3" name="Stripe17"/>
          <p:cNvSpPr/>
          <p:nvPr/>
        </p:nvSpPr>
        <p:spPr>
          <a:xfrm>
            <a:off x="280000" y="7580000"/>
            <a:ext cx="22000" cy="480000"/>
          </a:xfrm>
          <a:prstGeom prst="rect">
            <a:avLst/>
          </a:prstGeom>
          <a:solidFill>
            <a:srgbClr val="6E30B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4" name="GN17"/>
          <p:cNvSpPr txBox="1"/>
          <p:nvPr/>
        </p:nvSpPr>
        <p:spPr>
          <a:xfrm>
            <a:off x="280000" y="758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6E30B8"/>
                </a:solidFill>
                <a:latin typeface="Calibri"/>
              </a:rPr>
              <a:t>#4  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>Havas Media Network</a:t>
            </a:r>
          </a:p>
        </p:txBody>
      </p:sp>
      <p:sp>
        <p:nvSpPr>
          <p:cNvPr id="555" name="GW17"/>
          <p:cNvSpPr txBox="1"/>
          <p:nvPr/>
        </p:nvSpPr>
        <p:spPr>
          <a:xfrm>
            <a:off x="2630000" y="758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8</a:t>
            </a:r>
          </a:p>
        </p:txBody>
      </p:sp>
      <p:sp>
        <p:nvSpPr>
          <p:cNvPr id="556" name="GD17"/>
          <p:cNvSpPr txBox="1"/>
          <p:nvPr/>
        </p:nvSpPr>
        <p:spPr>
          <a:xfrm>
            <a:off x="3410000" y="758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3</a:t>
            </a:r>
          </a:p>
        </p:txBody>
      </p:sp>
      <p:sp>
        <p:nvSpPr>
          <p:cNvPr id="557" name="GB17"/>
          <p:cNvSpPr txBox="1"/>
          <p:nvPr/>
        </p:nvSpPr>
        <p:spPr>
          <a:xfrm>
            <a:off x="4230000" y="758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888888"/>
                </a:solidFill>
                <a:latin typeface="Calibri"/>
              </a:rPr>
              <a:t>0M$</a:t>
            </a:r>
          </a:p>
        </p:txBody>
      </p:sp>
      <p:sp>
        <p:nvSpPr>
          <p:cNvPr id="558" name="GWm17"/>
          <p:cNvSpPr txBox="1"/>
          <p:nvPr/>
        </p:nvSpPr>
        <p:spPr>
          <a:xfrm>
            <a:off x="5330000" y="758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+10</a:t>
            </a:r>
          </a:p>
        </p:txBody>
      </p:sp>
      <p:sp>
        <p:nvSpPr>
          <p:cNvPr id="559" name="GDm17"/>
          <p:cNvSpPr txBox="1"/>
          <p:nvPr/>
        </p:nvSpPr>
        <p:spPr>
          <a:xfrm>
            <a:off x="6250000" y="758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-10</a:t>
            </a:r>
          </a:p>
        </p:txBody>
      </p:sp>
      <p:sp>
        <p:nvSpPr>
          <p:cNvPr id="560" name="RBg18"/>
          <p:cNvSpPr/>
          <p:nvPr/>
        </p:nvSpPr>
        <p:spPr>
          <a:xfrm>
            <a:off x="280000" y="8060000"/>
            <a:ext cx="6999675" cy="310000"/>
          </a:xfrm>
          <a:prstGeom prst="rect">
            <a:avLst/>
          </a:prstGeom>
          <a:solidFill>
            <a:srgbClr val="DCB9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61" name="RSep18"/>
          <p:cNvSpPr/>
          <p:nvPr/>
        </p:nvSpPr>
        <p:spPr>
          <a:xfrm>
            <a:off x="280000" y="836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62" name="AN18"/>
          <p:cNvSpPr txBox="1"/>
          <p:nvPr/>
        </p:nvSpPr>
        <p:spPr>
          <a:xfrm>
            <a:off x="280000" y="806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Havas Media</a:t>
            </a:r>
          </a:p>
        </p:txBody>
      </p:sp>
      <p:sp>
        <p:nvSpPr>
          <p:cNvPr id="563" name="AW18"/>
          <p:cNvSpPr txBox="1"/>
          <p:nvPr/>
        </p:nvSpPr>
        <p:spPr>
          <a:xfrm>
            <a:off x="2630000" y="806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564" name="AD18"/>
          <p:cNvSpPr txBox="1"/>
          <p:nvPr/>
        </p:nvSpPr>
        <p:spPr>
          <a:xfrm>
            <a:off x="3410000" y="806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565" name="AB18"/>
          <p:cNvSpPr txBox="1"/>
          <p:nvPr/>
        </p:nvSpPr>
        <p:spPr>
          <a:xfrm>
            <a:off x="4230000" y="806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Calibri"/>
              </a:rPr>
              <a:t>0M$</a:t>
            </a:r>
          </a:p>
        </p:txBody>
      </p:sp>
      <p:sp>
        <p:nvSpPr>
          <p:cNvPr id="566" name="AWm18"/>
          <p:cNvSpPr txBox="1"/>
          <p:nvPr/>
        </p:nvSpPr>
        <p:spPr>
          <a:xfrm>
            <a:off x="5330000" y="806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+10</a:t>
            </a:r>
          </a:p>
        </p:txBody>
      </p:sp>
      <p:sp>
        <p:nvSpPr>
          <p:cNvPr id="567" name="ADm18"/>
          <p:cNvSpPr txBox="1"/>
          <p:nvPr/>
        </p:nvSpPr>
        <p:spPr>
          <a:xfrm>
            <a:off x="6250000" y="806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-10</a:t>
            </a:r>
          </a:p>
        </p:txBody>
      </p:sp>
      <p:sp>
        <p:nvSpPr>
          <p:cNvPr id="568" name="RBg19"/>
          <p:cNvSpPr/>
          <p:nvPr/>
        </p:nvSpPr>
        <p:spPr>
          <a:xfrm>
            <a:off x="280000" y="8430000"/>
            <a:ext cx="6999675" cy="48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69" name="RSep19"/>
          <p:cNvSpPr/>
          <p:nvPr/>
        </p:nvSpPr>
        <p:spPr>
          <a:xfrm>
            <a:off x="280000" y="890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0" name="Stripe19"/>
          <p:cNvSpPr/>
          <p:nvPr/>
        </p:nvSpPr>
        <p:spPr>
          <a:xfrm>
            <a:off x="280000" y="8430000"/>
            <a:ext cx="22000" cy="480000"/>
          </a:xfrm>
          <a:prstGeom prst="rect">
            <a:avLst/>
          </a:prstGeom>
          <a:solidFill>
            <a:srgbClr val="A030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1" name="GN19"/>
          <p:cNvSpPr txBox="1"/>
          <p:nvPr/>
        </p:nvSpPr>
        <p:spPr>
          <a:xfrm>
            <a:off x="280000" y="843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A030A8"/>
                </a:solidFill>
                <a:latin typeface="Calibri"/>
              </a:rPr>
              <a:t>#5  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>WPP Media</a:t>
            </a:r>
          </a:p>
        </p:txBody>
      </p:sp>
      <p:sp>
        <p:nvSpPr>
          <p:cNvPr id="572" name="GW19"/>
          <p:cNvSpPr txBox="1"/>
          <p:nvPr/>
        </p:nvSpPr>
        <p:spPr>
          <a:xfrm>
            <a:off x="2630000" y="843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11</a:t>
            </a:r>
          </a:p>
        </p:txBody>
      </p:sp>
      <p:sp>
        <p:nvSpPr>
          <p:cNvPr id="573" name="GD19"/>
          <p:cNvSpPr txBox="1"/>
          <p:nvPr/>
        </p:nvSpPr>
        <p:spPr>
          <a:xfrm>
            <a:off x="3410000" y="843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15</a:t>
            </a:r>
          </a:p>
        </p:txBody>
      </p:sp>
      <p:sp>
        <p:nvSpPr>
          <p:cNvPr id="574" name="GB19"/>
          <p:cNvSpPr txBox="1"/>
          <p:nvPr/>
        </p:nvSpPr>
        <p:spPr>
          <a:xfrm>
            <a:off x="4230000" y="843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A02828"/>
                </a:solidFill>
                <a:latin typeface="Calibri"/>
              </a:rPr>
              <a:t>-15M$</a:t>
            </a:r>
          </a:p>
        </p:txBody>
      </p:sp>
      <p:sp>
        <p:nvSpPr>
          <p:cNvPr id="575" name="GWm19"/>
          <p:cNvSpPr txBox="1"/>
          <p:nvPr/>
        </p:nvSpPr>
        <p:spPr>
          <a:xfrm>
            <a:off x="5330000" y="843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+23</a:t>
            </a:r>
          </a:p>
        </p:txBody>
      </p:sp>
      <p:sp>
        <p:nvSpPr>
          <p:cNvPr id="576" name="GDm19"/>
          <p:cNvSpPr txBox="1"/>
          <p:nvPr/>
        </p:nvSpPr>
        <p:spPr>
          <a:xfrm>
            <a:off x="6250000" y="843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-38</a:t>
            </a:r>
          </a:p>
        </p:txBody>
      </p:sp>
      <p:sp>
        <p:nvSpPr>
          <p:cNvPr id="577" name="RBg20"/>
          <p:cNvSpPr/>
          <p:nvPr/>
        </p:nvSpPr>
        <p:spPr>
          <a:xfrm>
            <a:off x="280000" y="8910000"/>
            <a:ext cx="6999675" cy="31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8" name="RSep20"/>
          <p:cNvSpPr/>
          <p:nvPr/>
        </p:nvSpPr>
        <p:spPr>
          <a:xfrm>
            <a:off x="280000" y="921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9" name="AN20"/>
          <p:cNvSpPr txBox="1"/>
          <p:nvPr/>
        </p:nvSpPr>
        <p:spPr>
          <a:xfrm>
            <a:off x="280000" y="891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EssenceMediacom</a:t>
            </a:r>
          </a:p>
        </p:txBody>
      </p:sp>
      <p:sp>
        <p:nvSpPr>
          <p:cNvPr id="580" name="AW20"/>
          <p:cNvSpPr txBox="1"/>
          <p:nvPr/>
        </p:nvSpPr>
        <p:spPr>
          <a:xfrm>
            <a:off x="2630000" y="891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581" name="AD20"/>
          <p:cNvSpPr txBox="1"/>
          <p:nvPr/>
        </p:nvSpPr>
        <p:spPr>
          <a:xfrm>
            <a:off x="3410000" y="891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82" name="AB20"/>
          <p:cNvSpPr txBox="1"/>
          <p:nvPr/>
        </p:nvSpPr>
        <p:spPr>
          <a:xfrm>
            <a:off x="4230000" y="891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+4M$</a:t>
            </a:r>
          </a:p>
        </p:txBody>
      </p:sp>
      <p:sp>
        <p:nvSpPr>
          <p:cNvPr id="583" name="AWm20"/>
          <p:cNvSpPr txBox="1"/>
          <p:nvPr/>
        </p:nvSpPr>
        <p:spPr>
          <a:xfrm>
            <a:off x="5330000" y="891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+11</a:t>
            </a:r>
          </a:p>
        </p:txBody>
      </p:sp>
      <p:sp>
        <p:nvSpPr>
          <p:cNvPr id="584" name="ADm20"/>
          <p:cNvSpPr txBox="1"/>
          <p:nvPr/>
        </p:nvSpPr>
        <p:spPr>
          <a:xfrm>
            <a:off x="6250000" y="891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-7</a:t>
            </a:r>
          </a:p>
        </p:txBody>
      </p:sp>
      <p:sp>
        <p:nvSpPr>
          <p:cNvPr id="585" name="RBg21"/>
          <p:cNvSpPr/>
          <p:nvPr/>
        </p:nvSpPr>
        <p:spPr>
          <a:xfrm>
            <a:off x="280000" y="9220000"/>
            <a:ext cx="6999675" cy="31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6" name="RSep21"/>
          <p:cNvSpPr/>
          <p:nvPr/>
        </p:nvSpPr>
        <p:spPr>
          <a:xfrm>
            <a:off x="280000" y="952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7" name="AN21"/>
          <p:cNvSpPr txBox="1"/>
          <p:nvPr/>
        </p:nvSpPr>
        <p:spPr>
          <a:xfrm>
            <a:off x="280000" y="922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Wavemaker</a:t>
            </a:r>
          </a:p>
        </p:txBody>
      </p:sp>
      <p:sp>
        <p:nvSpPr>
          <p:cNvPr id="588" name="AW21"/>
          <p:cNvSpPr txBox="1"/>
          <p:nvPr/>
        </p:nvSpPr>
        <p:spPr>
          <a:xfrm>
            <a:off x="2630000" y="922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89" name="AD21"/>
          <p:cNvSpPr txBox="1"/>
          <p:nvPr/>
        </p:nvSpPr>
        <p:spPr>
          <a:xfrm>
            <a:off x="3410000" y="922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590" name="AB21"/>
          <p:cNvSpPr txBox="1"/>
          <p:nvPr/>
        </p:nvSpPr>
        <p:spPr>
          <a:xfrm>
            <a:off x="4230000" y="922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A02828"/>
                </a:solidFill>
                <a:latin typeface="Calibri"/>
              </a:rPr>
              <a:t>-8M$</a:t>
            </a:r>
          </a:p>
        </p:txBody>
      </p:sp>
      <p:sp>
        <p:nvSpPr>
          <p:cNvPr id="591" name="AWm21"/>
          <p:cNvSpPr txBox="1"/>
          <p:nvPr/>
        </p:nvSpPr>
        <p:spPr>
          <a:xfrm>
            <a:off x="5330000" y="922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+8</a:t>
            </a:r>
          </a:p>
        </p:txBody>
      </p:sp>
      <p:sp>
        <p:nvSpPr>
          <p:cNvPr id="592" name="ADm21"/>
          <p:cNvSpPr txBox="1"/>
          <p:nvPr/>
        </p:nvSpPr>
        <p:spPr>
          <a:xfrm>
            <a:off x="6250000" y="922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-17</a:t>
            </a:r>
          </a:p>
        </p:txBody>
      </p:sp>
      <p:sp>
        <p:nvSpPr>
          <p:cNvPr id="593" name="RBg22"/>
          <p:cNvSpPr/>
          <p:nvPr/>
        </p:nvSpPr>
        <p:spPr>
          <a:xfrm>
            <a:off x="280000" y="9530000"/>
            <a:ext cx="6999675" cy="31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94" name="RSep22"/>
          <p:cNvSpPr/>
          <p:nvPr/>
        </p:nvSpPr>
        <p:spPr>
          <a:xfrm>
            <a:off x="280000" y="983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95" name="AN22"/>
          <p:cNvSpPr txBox="1"/>
          <p:nvPr/>
        </p:nvSpPr>
        <p:spPr>
          <a:xfrm>
            <a:off x="280000" y="953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Mindshare</a:t>
            </a:r>
          </a:p>
        </p:txBody>
      </p:sp>
      <p:sp>
        <p:nvSpPr>
          <p:cNvPr id="596" name="AW22"/>
          <p:cNvSpPr txBox="1"/>
          <p:nvPr/>
        </p:nvSpPr>
        <p:spPr>
          <a:xfrm>
            <a:off x="2630000" y="953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97" name="AD22"/>
          <p:cNvSpPr txBox="1"/>
          <p:nvPr/>
        </p:nvSpPr>
        <p:spPr>
          <a:xfrm>
            <a:off x="3410000" y="953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598" name="AB22"/>
          <p:cNvSpPr txBox="1"/>
          <p:nvPr/>
        </p:nvSpPr>
        <p:spPr>
          <a:xfrm>
            <a:off x="4230000" y="953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A02828"/>
                </a:solidFill>
                <a:latin typeface="Calibri"/>
              </a:rPr>
              <a:t>-11M$</a:t>
            </a:r>
          </a:p>
        </p:txBody>
      </p:sp>
      <p:sp>
        <p:nvSpPr>
          <p:cNvPr id="599" name="AWm22"/>
          <p:cNvSpPr txBox="1"/>
          <p:nvPr/>
        </p:nvSpPr>
        <p:spPr>
          <a:xfrm>
            <a:off x="5330000" y="953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+3</a:t>
            </a:r>
          </a:p>
        </p:txBody>
      </p:sp>
      <p:sp>
        <p:nvSpPr>
          <p:cNvPr id="600" name="ADm22"/>
          <p:cNvSpPr txBox="1"/>
          <p:nvPr/>
        </p:nvSpPr>
        <p:spPr>
          <a:xfrm>
            <a:off x="6250000" y="953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-14</a:t>
            </a:r>
          </a:p>
        </p:txBody>
      </p:sp>
      <p:sp>
        <p:nvSpPr>
          <p:cNvPr id="601" name="Note"/>
          <p:cNvSpPr txBox="1"/>
          <p:nvPr/>
        </p:nvSpPr>
        <p:spPr>
          <a:xfrm>
            <a:off x="280000" y="9910000"/>
            <a:ext cx="6999675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9AAFAB"/>
                </a:solidFill>
                <a:latin typeface="Calibri"/>
              </a:rPr>
              <a:t>Retentions / renewals / transfers not included in NBB  ·  By decreasing NBB balance</a:t>
            </a:r>
          </a:p>
        </p:txBody>
      </p:sp>
      <p:sp>
        <p:nvSpPr>
          <p:cNvPr id="614" name="Rectangle : coins arrondis 613">
            <a:hlinkClick r:id="rId2" action="ppaction://hlinksldjump"/>
            <a:extLst>
              <a:ext uri="{FF2B5EF4-FFF2-40B4-BE49-F238E27FC236}">
                <a16:creationId xmlns:a16="http://schemas.microsoft.com/office/drawing/2014/main" id="{8DFD5E24-91D1-DB1A-92C5-CCE9520D6D17}"/>
              </a:ext>
            </a:extLst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5" name="Rectangle : coins arrondis 614">
            <a:hlinkClick r:id="rId3" action="ppaction://hlinksldjump"/>
            <a:extLst>
              <a:ext uri="{FF2B5EF4-FFF2-40B4-BE49-F238E27FC236}">
                <a16:creationId xmlns:a16="http://schemas.microsoft.com/office/drawing/2014/main" id="{D685D465-7D9E-59CB-9484-1566D65F28B1}"/>
              </a:ext>
            </a:extLst>
          </p:cNvPr>
          <p:cNvSpPr/>
          <p:nvPr/>
        </p:nvSpPr>
        <p:spPr>
          <a:xfrm>
            <a:off x="5284791" y="29583"/>
            <a:ext cx="1074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6" name="Rectangle : coins arrondis 615">
            <a:hlinkClick r:id="rId4" action="ppaction://hlinksldjump"/>
            <a:extLst>
              <a:ext uri="{FF2B5EF4-FFF2-40B4-BE49-F238E27FC236}">
                <a16:creationId xmlns:a16="http://schemas.microsoft.com/office/drawing/2014/main" id="{8138AF67-701B-1BA3-172A-362C0ECD4F8A}"/>
              </a:ext>
            </a:extLst>
          </p:cNvPr>
          <p:cNvSpPr/>
          <p:nvPr/>
        </p:nvSpPr>
        <p:spPr>
          <a:xfrm>
            <a:off x="2791266" y="987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3" name="Rectangle : coins arrondis 612">
            <a:hlinkClick r:id="rId5" action="ppaction://hlinksldjump"/>
            <a:extLst>
              <a:ext uri="{FF2B5EF4-FFF2-40B4-BE49-F238E27FC236}">
                <a16:creationId xmlns:a16="http://schemas.microsoft.com/office/drawing/2014/main" id="{AF9788C3-3926-30F8-8032-9D3063663568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2" name="Rectangle : coins arrondis 611">
            <a:hlinkClick r:id="rId6" action="ppaction://hlinksldjump"/>
            <a:extLst>
              <a:ext uri="{FF2B5EF4-FFF2-40B4-BE49-F238E27FC236}">
                <a16:creationId xmlns:a16="http://schemas.microsoft.com/office/drawing/2014/main" id="{E9B9A3EA-7311-7258-2338-A9DAAF6B94AD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61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0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0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0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1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21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21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21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21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1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21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/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2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3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4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5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6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7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9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0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graphicFrame>
        <p:nvGraphicFramePr>
          <p:cNvPr id="11" name="Graphique 10">
            <a:extLst>
              <a:ext uri="{FF2B5EF4-FFF2-40B4-BE49-F238E27FC236}">
                <a16:creationId xmlns:a16="http://schemas.microsoft.com/office/drawing/2014/main" id="{7BEAAF46-ED84-D331-AAB9-1229AD6D4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0346458"/>
              </p:ext>
            </p:extLst>
          </p:nvPr>
        </p:nvGraphicFramePr>
        <p:xfrm>
          <a:off x="280000" y="960000"/>
          <a:ext cx="6999675" cy="3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0" name="Title"/>
          <p:cNvSpPr txBox="1"/>
          <p:nvPr/>
        </p:nvSpPr>
        <p:spPr>
          <a:xfrm>
            <a:off x="280000" y="420000"/>
            <a:ext cx="699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200" b="1" dirty="0">
                <a:solidFill>
                  <a:srgbClr val="1F2D2A"/>
                </a:solidFill>
                <a:latin typeface="Calibri"/>
              </a:rPr>
              <a:t>NBB 2025 retentions ranking</a:t>
            </a:r>
            <a:r>
              <a:rPr lang="en-US" sz="2200" b="0" dirty="0">
                <a:solidFill>
                  <a:srgbClr val="7FA89E"/>
                </a:solidFill>
                <a:latin typeface="Calibri"/>
              </a:rPr>
              <a:t>  ·  Sep.24 – Sep.25</a:t>
            </a:r>
          </a:p>
        </p:txBody>
      </p:sp>
      <p:sp>
        <p:nvSpPr>
          <p:cNvPr id="501" name="Sub"/>
          <p:cNvSpPr txBox="1"/>
          <p:nvPr/>
        </p:nvSpPr>
        <p:spPr>
          <a:xfrm>
            <a:off x="280000" y="745000"/>
            <a:ext cx="6999675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Retentions &amp; contract renewals not included in the NBB calculation  ·  By decreasing retention balance</a:t>
            </a:r>
          </a:p>
        </p:txBody>
      </p:sp>
      <p:sp>
        <p:nvSpPr>
          <p:cNvPr id="502" name="TblBg"/>
          <p:cNvSpPr/>
          <p:nvPr/>
        </p:nvSpPr>
        <p:spPr>
          <a:xfrm>
            <a:off x="280000" y="4960000"/>
            <a:ext cx="6999675" cy="28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E0DC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03" name="HdrBg"/>
          <p:cNvSpPr/>
          <p:nvPr/>
        </p:nvSpPr>
        <p:spPr>
          <a:xfrm>
            <a:off x="280000" y="4960000"/>
            <a:ext cx="6999675" cy="390000"/>
          </a:xfrm>
          <a:prstGeom prst="roundRect">
            <a:avLst>
              <a:gd name="adj" fmla="val 3000"/>
            </a:avLst>
          </a:prstGeom>
          <a:solidFill>
            <a:srgbClr val="2A3D3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4" name="Hdr0"/>
          <p:cNvSpPr txBox="1"/>
          <p:nvPr/>
        </p:nvSpPr>
        <p:spPr>
          <a:xfrm>
            <a:off x="280000" y="4960000"/>
            <a:ext cx="1900000" cy="3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AGENCE</a:t>
            </a:r>
          </a:p>
        </p:txBody>
      </p:sp>
      <p:sp>
        <p:nvSpPr>
          <p:cNvPr id="505" name="Hdr1"/>
          <p:cNvSpPr txBox="1"/>
          <p:nvPr/>
        </p:nvSpPr>
        <p:spPr>
          <a:xfrm>
            <a:off x="2180000" y="4960000"/>
            <a:ext cx="850000" cy="39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BALANCE ($M)</a:t>
            </a:r>
          </a:p>
        </p:txBody>
      </p:sp>
      <p:sp>
        <p:nvSpPr>
          <p:cNvPr id="506" name="Hdr2"/>
          <p:cNvSpPr txBox="1"/>
          <p:nvPr/>
        </p:nvSpPr>
        <p:spPr>
          <a:xfrm>
            <a:off x="3030000" y="4960000"/>
            <a:ext cx="2100000" cy="39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PRINCIPAL COMPTE RETENU</a:t>
            </a:r>
          </a:p>
        </p:txBody>
      </p:sp>
      <p:sp>
        <p:nvSpPr>
          <p:cNvPr id="507" name="Hdr3"/>
          <p:cNvSpPr txBox="1"/>
          <p:nvPr/>
        </p:nvSpPr>
        <p:spPr>
          <a:xfrm>
            <a:off x="5130000" y="4960000"/>
            <a:ext cx="2249675" cy="39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508" name="RBg0"/>
          <p:cNvSpPr/>
          <p:nvPr/>
        </p:nvSpPr>
        <p:spPr>
          <a:xfrm>
            <a:off x="280000" y="5350000"/>
            <a:ext cx="6999675" cy="41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9" name="RSep0"/>
          <p:cNvSpPr/>
          <p:nvPr/>
        </p:nvSpPr>
        <p:spPr>
          <a:xfrm>
            <a:off x="280000" y="5754000"/>
            <a:ext cx="6999675" cy="6000"/>
          </a:xfrm>
          <a:prstGeom prst="rect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0" name="Str0"/>
          <p:cNvSpPr/>
          <p:nvPr/>
        </p:nvSpPr>
        <p:spPr>
          <a:xfrm>
            <a:off x="280000" y="5350000"/>
            <a:ext cx="18000" cy="410000"/>
          </a:xfrm>
          <a:prstGeom prst="rect">
            <a:avLst/>
          </a:prstGeom>
          <a:solidFill>
            <a:srgbClr val="E8704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1" name="AN0"/>
          <p:cNvSpPr txBox="1"/>
          <p:nvPr/>
        </p:nvSpPr>
        <p:spPr>
          <a:xfrm>
            <a:off x="280000" y="535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Starcom</a:t>
            </a:r>
          </a:p>
        </p:txBody>
      </p:sp>
      <p:sp>
        <p:nvSpPr>
          <p:cNvPr id="512" name="AB0"/>
          <p:cNvSpPr txBox="1"/>
          <p:nvPr/>
        </p:nvSpPr>
        <p:spPr>
          <a:xfrm>
            <a:off x="2180000" y="535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+54M$</a:t>
            </a:r>
          </a:p>
        </p:txBody>
      </p:sp>
      <p:sp>
        <p:nvSpPr>
          <p:cNvPr id="513" name="AC0"/>
          <p:cNvSpPr txBox="1"/>
          <p:nvPr/>
        </p:nvSpPr>
        <p:spPr>
          <a:xfrm>
            <a:off x="3030000" y="535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FrieslandCampina</a:t>
            </a:r>
          </a:p>
        </p:txBody>
      </p:sp>
      <p:sp>
        <p:nvSpPr>
          <p:cNvPr id="514" name="AN20"/>
          <p:cNvSpPr txBox="1"/>
          <p:nvPr/>
        </p:nvSpPr>
        <p:spPr>
          <a:xfrm>
            <a:off x="5130000" y="535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>Retention majeure — leader du marché</a:t>
            </a:r>
          </a:p>
        </p:txBody>
      </p:sp>
      <p:sp>
        <p:nvSpPr>
          <p:cNvPr id="515" name="RBg1"/>
          <p:cNvSpPr/>
          <p:nvPr/>
        </p:nvSpPr>
        <p:spPr>
          <a:xfrm>
            <a:off x="280000" y="5760000"/>
            <a:ext cx="6999675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6" name="RSep1"/>
          <p:cNvSpPr/>
          <p:nvPr/>
        </p:nvSpPr>
        <p:spPr>
          <a:xfrm>
            <a:off x="280000" y="6164000"/>
            <a:ext cx="6999675" cy="6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7" name="Str1"/>
          <p:cNvSpPr/>
          <p:nvPr/>
        </p:nvSpPr>
        <p:spPr>
          <a:xfrm>
            <a:off x="280000" y="5760000"/>
            <a:ext cx="18000" cy="410000"/>
          </a:xfrm>
          <a:prstGeom prst="rect">
            <a:avLst/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8" name="AN1"/>
          <p:cNvSpPr txBox="1"/>
          <p:nvPr/>
        </p:nvSpPr>
        <p:spPr>
          <a:xfrm>
            <a:off x="280000" y="576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dentsu X</a:t>
            </a:r>
          </a:p>
        </p:txBody>
      </p:sp>
      <p:sp>
        <p:nvSpPr>
          <p:cNvPr id="519" name="AB1"/>
          <p:cNvSpPr txBox="1"/>
          <p:nvPr/>
        </p:nvSpPr>
        <p:spPr>
          <a:xfrm>
            <a:off x="2180000" y="576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+46M$</a:t>
            </a:r>
          </a:p>
        </p:txBody>
      </p:sp>
      <p:sp>
        <p:nvSpPr>
          <p:cNvPr id="520" name="AC1"/>
          <p:cNvSpPr txBox="1"/>
          <p:nvPr/>
        </p:nvSpPr>
        <p:spPr>
          <a:xfrm>
            <a:off x="3030000" y="576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KAO + Ocean Park</a:t>
            </a:r>
          </a:p>
        </p:txBody>
      </p:sp>
      <p:sp>
        <p:nvSpPr>
          <p:cNvPr id="521" name="AN21"/>
          <p:cNvSpPr txBox="1"/>
          <p:nvPr/>
        </p:nvSpPr>
        <p:spPr>
          <a:xfrm>
            <a:off x="5130000" y="576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>KAO et Ocean Park retenus simultanément</a:t>
            </a:r>
          </a:p>
        </p:txBody>
      </p:sp>
      <p:sp>
        <p:nvSpPr>
          <p:cNvPr id="522" name="RBg2"/>
          <p:cNvSpPr/>
          <p:nvPr/>
        </p:nvSpPr>
        <p:spPr>
          <a:xfrm>
            <a:off x="280000" y="6170000"/>
            <a:ext cx="6999675" cy="4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3" name="RSep2"/>
          <p:cNvSpPr/>
          <p:nvPr/>
        </p:nvSpPr>
        <p:spPr>
          <a:xfrm>
            <a:off x="280000" y="6574000"/>
            <a:ext cx="6999675" cy="6000"/>
          </a:xfrm>
          <a:prstGeom prst="rect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4" name="Str2"/>
          <p:cNvSpPr/>
          <p:nvPr/>
        </p:nvSpPr>
        <p:spPr>
          <a:xfrm>
            <a:off x="280000" y="6170000"/>
            <a:ext cx="18000" cy="410000"/>
          </a:xfrm>
          <a:prstGeom prst="rect">
            <a:avLst/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5" name="AN2"/>
          <p:cNvSpPr txBox="1"/>
          <p:nvPr/>
        </p:nvSpPr>
        <p:spPr>
          <a:xfrm>
            <a:off x="280000" y="617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Hearts &amp; Science</a:t>
            </a:r>
          </a:p>
        </p:txBody>
      </p:sp>
      <p:sp>
        <p:nvSpPr>
          <p:cNvPr id="526" name="AB2"/>
          <p:cNvSpPr txBox="1"/>
          <p:nvPr/>
        </p:nvSpPr>
        <p:spPr>
          <a:xfrm>
            <a:off x="2180000" y="617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+13M$</a:t>
            </a:r>
          </a:p>
        </p:txBody>
      </p:sp>
      <p:sp>
        <p:nvSpPr>
          <p:cNvPr id="527" name="AC2"/>
          <p:cNvSpPr txBox="1"/>
          <p:nvPr/>
        </p:nvSpPr>
        <p:spPr>
          <a:xfrm>
            <a:off x="3030000" y="617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AS Watson (partiel)</a:t>
            </a:r>
          </a:p>
        </p:txBody>
      </p:sp>
      <p:sp>
        <p:nvSpPr>
          <p:cNvPr id="528" name="AN22"/>
          <p:cNvSpPr txBox="1"/>
          <p:nvPr/>
        </p:nvSpPr>
        <p:spPr>
          <a:xfrm>
            <a:off x="5130000" y="617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>Renouvellement partiel du contrat</a:t>
            </a:r>
          </a:p>
        </p:txBody>
      </p:sp>
      <p:sp>
        <p:nvSpPr>
          <p:cNvPr id="529" name="RBg3"/>
          <p:cNvSpPr/>
          <p:nvPr/>
        </p:nvSpPr>
        <p:spPr>
          <a:xfrm>
            <a:off x="280000" y="6580000"/>
            <a:ext cx="6999675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0" name="RSep3"/>
          <p:cNvSpPr/>
          <p:nvPr/>
        </p:nvSpPr>
        <p:spPr>
          <a:xfrm>
            <a:off x="280000" y="6984000"/>
            <a:ext cx="6999675" cy="6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1" name="Str3"/>
          <p:cNvSpPr/>
          <p:nvPr/>
        </p:nvSpPr>
        <p:spPr>
          <a:xfrm>
            <a:off x="280000" y="6580000"/>
            <a:ext cx="18000" cy="410000"/>
          </a:xfrm>
          <a:prstGeom prst="rect">
            <a:avLst/>
          </a:prstGeom>
          <a:solidFill>
            <a:srgbClr val="E8704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2" name="AN3"/>
          <p:cNvSpPr txBox="1"/>
          <p:nvPr/>
        </p:nvSpPr>
        <p:spPr>
          <a:xfrm>
            <a:off x="280000" y="658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Zenith</a:t>
            </a:r>
          </a:p>
        </p:txBody>
      </p:sp>
      <p:sp>
        <p:nvSpPr>
          <p:cNvPr id="533" name="AB3"/>
          <p:cNvSpPr txBox="1"/>
          <p:nvPr/>
        </p:nvSpPr>
        <p:spPr>
          <a:xfrm>
            <a:off x="2180000" y="658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+12M$</a:t>
            </a:r>
          </a:p>
        </p:txBody>
      </p:sp>
      <p:sp>
        <p:nvSpPr>
          <p:cNvPr id="534" name="AC3"/>
          <p:cNvSpPr txBox="1"/>
          <p:nvPr/>
        </p:nvSpPr>
        <p:spPr>
          <a:xfrm>
            <a:off x="3030000" y="658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HK Disneyland</a:t>
            </a:r>
          </a:p>
        </p:txBody>
      </p:sp>
      <p:sp>
        <p:nvSpPr>
          <p:cNvPr id="535" name="AN23"/>
          <p:cNvSpPr txBox="1"/>
          <p:nvPr/>
        </p:nvSpPr>
        <p:spPr>
          <a:xfrm>
            <a:off x="5130000" y="658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>Contrat HK Disneyland renouvelé</a:t>
            </a:r>
          </a:p>
        </p:txBody>
      </p:sp>
      <p:sp>
        <p:nvSpPr>
          <p:cNvPr id="536" name="RBg4"/>
          <p:cNvSpPr/>
          <p:nvPr/>
        </p:nvSpPr>
        <p:spPr>
          <a:xfrm>
            <a:off x="280000" y="6990000"/>
            <a:ext cx="6999675" cy="4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7" name="RSep4"/>
          <p:cNvSpPr/>
          <p:nvPr/>
        </p:nvSpPr>
        <p:spPr>
          <a:xfrm>
            <a:off x="280000" y="7394000"/>
            <a:ext cx="6999675" cy="6000"/>
          </a:xfrm>
          <a:prstGeom prst="rect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8" name="Str4"/>
          <p:cNvSpPr/>
          <p:nvPr/>
        </p:nvSpPr>
        <p:spPr>
          <a:xfrm>
            <a:off x="280000" y="6990000"/>
            <a:ext cx="18000" cy="410000"/>
          </a:xfrm>
          <a:prstGeom prst="rect">
            <a:avLst/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9" name="AN4"/>
          <p:cNvSpPr txBox="1"/>
          <p:nvPr/>
        </p:nvSpPr>
        <p:spPr>
          <a:xfrm>
            <a:off x="280000" y="699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Carat</a:t>
            </a:r>
          </a:p>
        </p:txBody>
      </p:sp>
      <p:sp>
        <p:nvSpPr>
          <p:cNvPr id="540" name="AB4"/>
          <p:cNvSpPr txBox="1"/>
          <p:nvPr/>
        </p:nvSpPr>
        <p:spPr>
          <a:xfrm>
            <a:off x="2180000" y="699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+2M$</a:t>
            </a:r>
          </a:p>
        </p:txBody>
      </p:sp>
      <p:sp>
        <p:nvSpPr>
          <p:cNvPr id="541" name="AC4"/>
          <p:cNvSpPr txBox="1"/>
          <p:nvPr/>
        </p:nvSpPr>
        <p:spPr>
          <a:xfrm>
            <a:off x="3030000" y="699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—</a:t>
            </a:r>
          </a:p>
        </p:txBody>
      </p:sp>
      <p:sp>
        <p:nvSpPr>
          <p:cNvPr id="542" name="AN24"/>
          <p:cNvSpPr txBox="1"/>
          <p:nvPr/>
        </p:nvSpPr>
        <p:spPr>
          <a:xfrm>
            <a:off x="5130000" y="699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>Renouvellement mineur</a:t>
            </a:r>
          </a:p>
        </p:txBody>
      </p:sp>
      <p:sp>
        <p:nvSpPr>
          <p:cNvPr id="543" name="RBg5"/>
          <p:cNvSpPr/>
          <p:nvPr/>
        </p:nvSpPr>
        <p:spPr>
          <a:xfrm>
            <a:off x="280000" y="7400000"/>
            <a:ext cx="6999675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4" name="RSep5"/>
          <p:cNvSpPr/>
          <p:nvPr/>
        </p:nvSpPr>
        <p:spPr>
          <a:xfrm>
            <a:off x="280000" y="7804000"/>
            <a:ext cx="6999675" cy="6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5" name="Str5"/>
          <p:cNvSpPr/>
          <p:nvPr/>
        </p:nvSpPr>
        <p:spPr>
          <a:xfrm>
            <a:off x="280000" y="7400000"/>
            <a:ext cx="18000" cy="410000"/>
          </a:xfrm>
          <a:prstGeom prst="rect">
            <a:avLst/>
          </a:prstGeom>
          <a:solidFill>
            <a:srgbClr val="6E30B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6" name="AN5"/>
          <p:cNvSpPr txBox="1"/>
          <p:nvPr/>
        </p:nvSpPr>
        <p:spPr>
          <a:xfrm>
            <a:off x="280000" y="740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Havas</a:t>
            </a:r>
          </a:p>
        </p:txBody>
      </p:sp>
      <p:sp>
        <p:nvSpPr>
          <p:cNvPr id="547" name="AB5"/>
          <p:cNvSpPr txBox="1"/>
          <p:nvPr/>
        </p:nvSpPr>
        <p:spPr>
          <a:xfrm>
            <a:off x="2180000" y="740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+1M$</a:t>
            </a:r>
          </a:p>
        </p:txBody>
      </p:sp>
      <p:sp>
        <p:nvSpPr>
          <p:cNvPr id="548" name="AC5"/>
          <p:cNvSpPr txBox="1"/>
          <p:nvPr/>
        </p:nvSpPr>
        <p:spPr>
          <a:xfrm>
            <a:off x="3030000" y="740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—</a:t>
            </a:r>
          </a:p>
        </p:txBody>
      </p:sp>
      <p:sp>
        <p:nvSpPr>
          <p:cNvPr id="549" name="AN25"/>
          <p:cNvSpPr txBox="1"/>
          <p:nvPr/>
        </p:nvSpPr>
        <p:spPr>
          <a:xfrm>
            <a:off x="5130000" y="740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>Renouvellement mineur</a:t>
            </a:r>
          </a:p>
        </p:txBody>
      </p:sp>
      <p:sp>
        <p:nvSpPr>
          <p:cNvPr id="550" name="NoteBottom"/>
          <p:cNvSpPr txBox="1"/>
          <p:nvPr/>
        </p:nvSpPr>
        <p:spPr>
          <a:xfrm>
            <a:off x="280000" y="7880000"/>
            <a:ext cx="6999675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0" dirty="0">
                <a:solidFill>
                  <a:srgbClr val="9AAFAB"/>
                </a:solidFill>
                <a:latin typeface="Calibri"/>
              </a:rPr>
              <a:t>Starcom retained Friesland Campina whereas dentsu X has retained KAO and OMD retained Dairy Farm</a:t>
            </a:r>
          </a:p>
        </p:txBody>
      </p:sp>
      <p:sp>
        <p:nvSpPr>
          <p:cNvPr id="23" name="Rectangle : coins arrondis 22">
            <a:hlinkClick r:id="rId3" action="ppaction://hlinksldjump"/>
            <a:extLst>
              <a:ext uri="{FF2B5EF4-FFF2-40B4-BE49-F238E27FC236}">
                <a16:creationId xmlns:a16="http://schemas.microsoft.com/office/drawing/2014/main" id="{A98FEDD4-F71B-3C93-FD7E-153A6A00CDB4}"/>
              </a:ext>
            </a:extLst>
          </p:cNvPr>
          <p:cNvSpPr/>
          <p:nvPr/>
        </p:nvSpPr>
        <p:spPr>
          <a:xfrm>
            <a:off x="6572720" y="23607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 : coins arrondis 24">
            <a:hlinkClick r:id="rId4" action="ppaction://hlinksldjump"/>
            <a:extLst>
              <a:ext uri="{FF2B5EF4-FFF2-40B4-BE49-F238E27FC236}">
                <a16:creationId xmlns:a16="http://schemas.microsoft.com/office/drawing/2014/main" id="{D0EE200B-D663-913B-D342-4E70A42AF585}"/>
              </a:ext>
            </a:extLst>
          </p:cNvPr>
          <p:cNvSpPr/>
          <p:nvPr/>
        </p:nvSpPr>
        <p:spPr>
          <a:xfrm>
            <a:off x="4043709" y="30000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 : coins arrondis 23">
            <a:hlinkClick r:id="rId5" action="ppaction://hlinksldjump"/>
            <a:extLst>
              <a:ext uri="{FF2B5EF4-FFF2-40B4-BE49-F238E27FC236}">
                <a16:creationId xmlns:a16="http://schemas.microsoft.com/office/drawing/2014/main" id="{2EBDDCC8-0C5C-5371-1EB9-EFAF342BA5D1}"/>
              </a:ext>
            </a:extLst>
          </p:cNvPr>
          <p:cNvSpPr/>
          <p:nvPr/>
        </p:nvSpPr>
        <p:spPr>
          <a:xfrm>
            <a:off x="2734889" y="31144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 : coins arrondis 21">
            <a:hlinkClick r:id="rId6" action="ppaction://hlinksldjump"/>
            <a:extLst>
              <a:ext uri="{FF2B5EF4-FFF2-40B4-BE49-F238E27FC236}">
                <a16:creationId xmlns:a16="http://schemas.microsoft.com/office/drawing/2014/main" id="{0D3DA547-524E-B3DC-FBE1-141457CDAFF0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 : coins arrondis 20">
            <a:hlinkClick r:id="rId7" action="ppaction://hlinksldjump"/>
            <a:extLst>
              <a:ext uri="{FF2B5EF4-FFF2-40B4-BE49-F238E27FC236}">
                <a16:creationId xmlns:a16="http://schemas.microsoft.com/office/drawing/2014/main" id="{8AAD12A7-2C91-EFBD-14A3-E7E9146C9CD2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36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 : coins arrondis 41">
            <a:hlinkClick r:id="rId2" action="ppaction://hlinksldjump"/>
            <a:extLst>
              <a:ext uri="{FF2B5EF4-FFF2-40B4-BE49-F238E27FC236}">
                <a16:creationId xmlns:a16="http://schemas.microsoft.com/office/drawing/2014/main" id="{AA813E7E-1900-9DA0-2A20-428167ED413B}"/>
              </a:ext>
            </a:extLst>
          </p:cNvPr>
          <p:cNvSpPr/>
          <p:nvPr/>
        </p:nvSpPr>
        <p:spPr>
          <a:xfrm>
            <a:off x="5284791" y="29583"/>
            <a:ext cx="97257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21" name="A0Bg"/>
          <p:cNvSpPr/>
          <p:nvPr/>
        </p:nvSpPr>
        <p:spPr>
          <a:xfrm>
            <a:off x="220000" y="470000"/>
            <a:ext cx="7119675" cy="22059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22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SPARK FOUNDRY</a:t>
            </a:r>
          </a:p>
        </p:txBody>
      </p:sp>
      <p:sp>
        <p:nvSpPr>
          <p:cNvPr id="6025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+42.3m$</a:t>
            </a:r>
          </a:p>
        </p:txBody>
      </p:sp>
      <p:sp>
        <p:nvSpPr>
          <p:cNvPr id="6027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A0C0Bg"/>
          <p:cNvSpPr/>
          <p:nvPr/>
        </p:nvSpPr>
        <p:spPr>
          <a:xfrm>
            <a:off x="440000" y="889000"/>
            <a:ext cx="2159891" cy="16269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9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030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A0C0I0N"/>
          <p:cNvSpPr txBox="1"/>
          <p:nvPr/>
        </p:nvSpPr>
        <p:spPr>
          <a:xfrm>
            <a:off x="530000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Nestlé</a:t>
            </a:r>
          </a:p>
        </p:txBody>
      </p:sp>
      <p:sp>
        <p:nvSpPr>
          <p:cNvPr id="6032" name="A0C0I0V"/>
          <p:cNvSpPr txBox="1"/>
          <p:nvPr/>
        </p:nvSpPr>
        <p:spPr>
          <a:xfrm>
            <a:off x="1939891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+29.0m</a:t>
            </a:r>
          </a:p>
        </p:txBody>
      </p:sp>
      <p:sp>
        <p:nvSpPr>
          <p:cNvPr id="6033" name="A0C0I1N"/>
          <p:cNvSpPr txBox="1"/>
          <p:nvPr/>
        </p:nvSpPr>
        <p:spPr>
          <a:xfrm>
            <a:off x="530000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Wyeth Nutrition</a:t>
            </a:r>
          </a:p>
        </p:txBody>
      </p:sp>
      <p:sp>
        <p:nvSpPr>
          <p:cNvPr id="6034" name="A0C0I1V"/>
          <p:cNvSpPr txBox="1"/>
          <p:nvPr/>
        </p:nvSpPr>
        <p:spPr>
          <a:xfrm>
            <a:off x="1939891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+12.0m</a:t>
            </a:r>
          </a:p>
        </p:txBody>
      </p:sp>
      <p:sp>
        <p:nvSpPr>
          <p:cNvPr id="6035" name="A0C0I2N"/>
          <p:cNvSpPr txBox="1"/>
          <p:nvPr/>
        </p:nvSpPr>
        <p:spPr>
          <a:xfrm>
            <a:off x="530000" y="17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Jebsen Beverage</a:t>
            </a:r>
          </a:p>
        </p:txBody>
      </p:sp>
      <p:sp>
        <p:nvSpPr>
          <p:cNvPr id="6036" name="A0C0I2V"/>
          <p:cNvSpPr txBox="1"/>
          <p:nvPr/>
        </p:nvSpPr>
        <p:spPr>
          <a:xfrm>
            <a:off x="1939891" y="17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+8.0m</a:t>
            </a:r>
          </a:p>
        </p:txBody>
      </p:sp>
      <p:sp>
        <p:nvSpPr>
          <p:cNvPr id="6037" name="A0C1Bg"/>
          <p:cNvSpPr/>
          <p:nvPr/>
        </p:nvSpPr>
        <p:spPr>
          <a:xfrm>
            <a:off x="2699891" y="889000"/>
            <a:ext cx="2159891" cy="16269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8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039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HKMC Annuity</a:t>
            </a:r>
          </a:p>
        </p:txBody>
      </p:sp>
      <p:sp>
        <p:nvSpPr>
          <p:cNvPr id="6041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-6.7m</a:t>
            </a:r>
          </a:p>
        </p:txBody>
      </p:sp>
      <p:sp>
        <p:nvSpPr>
          <p:cNvPr id="6042" name="A0C2Bg"/>
          <p:cNvSpPr/>
          <p:nvPr/>
        </p:nvSpPr>
        <p:spPr>
          <a:xfrm>
            <a:off x="4959782" y="889000"/>
            <a:ext cx="2159891" cy="16269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044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A0C2E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046" name="A1Bg"/>
          <p:cNvSpPr/>
          <p:nvPr/>
        </p:nvSpPr>
        <p:spPr>
          <a:xfrm>
            <a:off x="220000" y="2775966"/>
            <a:ext cx="7119675" cy="200412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47" name="A1Hdr"/>
          <p:cNvSpPr/>
          <p:nvPr/>
        </p:nvSpPr>
        <p:spPr>
          <a:xfrm>
            <a:off x="220000" y="2775966"/>
            <a:ext cx="7119675" cy="29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A1Nm"/>
          <p:cNvSpPr txBox="1"/>
          <p:nvPr/>
        </p:nvSpPr>
        <p:spPr>
          <a:xfrm>
            <a:off x="440000" y="2795966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DENTSU X</a:t>
            </a:r>
          </a:p>
        </p:txBody>
      </p:sp>
      <p:sp>
        <p:nvSpPr>
          <p:cNvPr id="6050" name="A1BadgeBg"/>
          <p:cNvSpPr/>
          <p:nvPr/>
        </p:nvSpPr>
        <p:spPr>
          <a:xfrm>
            <a:off x="5919675" y="2810966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A1BadgeTx"/>
          <p:cNvSpPr txBox="1"/>
          <p:nvPr/>
        </p:nvSpPr>
        <p:spPr>
          <a:xfrm>
            <a:off x="5919675" y="2810966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+27.0m$</a:t>
            </a:r>
          </a:p>
        </p:txBody>
      </p:sp>
      <p:sp>
        <p:nvSpPr>
          <p:cNvPr id="6052" name="A1Sep"/>
          <p:cNvSpPr/>
          <p:nvPr/>
        </p:nvSpPr>
        <p:spPr>
          <a:xfrm>
            <a:off x="440000" y="3065966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3" name="A1C0Bg"/>
          <p:cNvSpPr/>
          <p:nvPr/>
        </p:nvSpPr>
        <p:spPr>
          <a:xfrm>
            <a:off x="440000" y="3194966"/>
            <a:ext cx="2159891" cy="142512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4" name="A1C0Lbl"/>
          <p:cNvSpPr txBox="1"/>
          <p:nvPr/>
        </p:nvSpPr>
        <p:spPr>
          <a:xfrm>
            <a:off x="530000" y="33149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055" name="A1C0UL"/>
          <p:cNvSpPr/>
          <p:nvPr/>
        </p:nvSpPr>
        <p:spPr>
          <a:xfrm>
            <a:off x="530000" y="3489966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A1C0I0N"/>
          <p:cNvSpPr txBox="1"/>
          <p:nvPr/>
        </p:nvSpPr>
        <p:spPr>
          <a:xfrm>
            <a:off x="530000" y="36099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Telford</a:t>
            </a:r>
          </a:p>
        </p:txBody>
      </p:sp>
      <p:sp>
        <p:nvSpPr>
          <p:cNvPr id="6057" name="A1C0I0V"/>
          <p:cNvSpPr txBox="1"/>
          <p:nvPr/>
        </p:nvSpPr>
        <p:spPr>
          <a:xfrm>
            <a:off x="1939891" y="36099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+28.0m</a:t>
            </a:r>
          </a:p>
        </p:txBody>
      </p:sp>
      <p:sp>
        <p:nvSpPr>
          <p:cNvPr id="6058" name="A1C1Bg"/>
          <p:cNvSpPr/>
          <p:nvPr/>
        </p:nvSpPr>
        <p:spPr>
          <a:xfrm>
            <a:off x="2699891" y="3194966"/>
            <a:ext cx="2159891" cy="142512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9" name="A1C1Lbl"/>
          <p:cNvSpPr txBox="1"/>
          <p:nvPr/>
        </p:nvSpPr>
        <p:spPr>
          <a:xfrm>
            <a:off x="2789891" y="33149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060" name="A1C1UL"/>
          <p:cNvSpPr/>
          <p:nvPr/>
        </p:nvSpPr>
        <p:spPr>
          <a:xfrm>
            <a:off x="2789891" y="3489966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A1C1E"/>
          <p:cNvSpPr txBox="1"/>
          <p:nvPr/>
        </p:nvSpPr>
        <p:spPr>
          <a:xfrm>
            <a:off x="2789891" y="36099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062" name="A1C2Bg"/>
          <p:cNvSpPr/>
          <p:nvPr/>
        </p:nvSpPr>
        <p:spPr>
          <a:xfrm>
            <a:off x="4959782" y="3194966"/>
            <a:ext cx="2159891" cy="142512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63" name="A1C2Lbl"/>
          <p:cNvSpPr txBox="1"/>
          <p:nvPr/>
        </p:nvSpPr>
        <p:spPr>
          <a:xfrm>
            <a:off x="5049782" y="33149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064" name="A1C2UL"/>
          <p:cNvSpPr/>
          <p:nvPr/>
        </p:nvSpPr>
        <p:spPr>
          <a:xfrm>
            <a:off x="5049782" y="3489966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5" name="A1C2I0N"/>
          <p:cNvSpPr txBox="1"/>
          <p:nvPr/>
        </p:nvSpPr>
        <p:spPr>
          <a:xfrm>
            <a:off x="5049782" y="36099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KAO</a:t>
            </a:r>
          </a:p>
        </p:txBody>
      </p:sp>
      <p:sp>
        <p:nvSpPr>
          <p:cNvPr id="6066" name="A1C2I1N"/>
          <p:cNvSpPr txBox="1"/>
          <p:nvPr/>
        </p:nvSpPr>
        <p:spPr>
          <a:xfrm>
            <a:off x="5049782" y="38099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The Body Shop</a:t>
            </a:r>
          </a:p>
        </p:txBody>
      </p:sp>
      <p:sp>
        <p:nvSpPr>
          <p:cNvPr id="6067" name="A2Bg"/>
          <p:cNvSpPr/>
          <p:nvPr/>
        </p:nvSpPr>
        <p:spPr>
          <a:xfrm>
            <a:off x="220000" y="4880087"/>
            <a:ext cx="7119675" cy="321518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68" name="A2Hdr"/>
          <p:cNvSpPr/>
          <p:nvPr/>
        </p:nvSpPr>
        <p:spPr>
          <a:xfrm>
            <a:off x="220000" y="4880087"/>
            <a:ext cx="7119675" cy="29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9" name="A2Nm"/>
          <p:cNvSpPr txBox="1"/>
          <p:nvPr/>
        </p:nvSpPr>
        <p:spPr>
          <a:xfrm>
            <a:off x="440000" y="4900087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STARCOM</a:t>
            </a:r>
          </a:p>
        </p:txBody>
      </p:sp>
      <p:sp>
        <p:nvSpPr>
          <p:cNvPr id="6071" name="A2BadgeBg"/>
          <p:cNvSpPr/>
          <p:nvPr/>
        </p:nvSpPr>
        <p:spPr>
          <a:xfrm>
            <a:off x="5919675" y="4915087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2" name="A2BadgeTx"/>
          <p:cNvSpPr txBox="1"/>
          <p:nvPr/>
        </p:nvSpPr>
        <p:spPr>
          <a:xfrm>
            <a:off x="5919675" y="4915087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+20.0m$</a:t>
            </a:r>
          </a:p>
        </p:txBody>
      </p:sp>
      <p:sp>
        <p:nvSpPr>
          <p:cNvPr id="6073" name="A2Sep"/>
          <p:cNvSpPr/>
          <p:nvPr/>
        </p:nvSpPr>
        <p:spPr>
          <a:xfrm>
            <a:off x="440000" y="5170087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4" name="A2C0Bg"/>
          <p:cNvSpPr/>
          <p:nvPr/>
        </p:nvSpPr>
        <p:spPr>
          <a:xfrm>
            <a:off x="440000" y="5299087"/>
            <a:ext cx="2159891" cy="263618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75" name="A2C0Lbl"/>
          <p:cNvSpPr txBox="1"/>
          <p:nvPr/>
        </p:nvSpPr>
        <p:spPr>
          <a:xfrm>
            <a:off x="530000" y="5419087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076" name="A2C0UL"/>
          <p:cNvSpPr/>
          <p:nvPr/>
        </p:nvSpPr>
        <p:spPr>
          <a:xfrm>
            <a:off x="530000" y="5594087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7" name="A2C0I0N"/>
          <p:cNvSpPr txBox="1"/>
          <p:nvPr/>
        </p:nvSpPr>
        <p:spPr>
          <a:xfrm>
            <a:off x="530000" y="571408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Nongfu Spring</a:t>
            </a:r>
          </a:p>
        </p:txBody>
      </p:sp>
      <p:sp>
        <p:nvSpPr>
          <p:cNvPr id="6078" name="A2C0I0V"/>
          <p:cNvSpPr txBox="1"/>
          <p:nvPr/>
        </p:nvSpPr>
        <p:spPr>
          <a:xfrm>
            <a:off x="1939891" y="571408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+7.0m</a:t>
            </a:r>
          </a:p>
        </p:txBody>
      </p:sp>
      <p:sp>
        <p:nvSpPr>
          <p:cNvPr id="6079" name="A2C0I1N"/>
          <p:cNvSpPr txBox="1"/>
          <p:nvPr/>
        </p:nvSpPr>
        <p:spPr>
          <a:xfrm>
            <a:off x="530000" y="591408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MGM Resorts</a:t>
            </a:r>
          </a:p>
        </p:txBody>
      </p:sp>
      <p:sp>
        <p:nvSpPr>
          <p:cNvPr id="6080" name="A2C0I1V"/>
          <p:cNvSpPr txBox="1"/>
          <p:nvPr/>
        </p:nvSpPr>
        <p:spPr>
          <a:xfrm>
            <a:off x="1939891" y="591408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6081" name="A2C0I2N"/>
          <p:cNvSpPr txBox="1"/>
          <p:nvPr/>
        </p:nvSpPr>
        <p:spPr>
          <a:xfrm>
            <a:off x="530000" y="611408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</a:t>
            </a:r>
          </a:p>
        </p:txBody>
      </p:sp>
      <p:sp>
        <p:nvSpPr>
          <p:cNvPr id="6082" name="A2C0I2V"/>
          <p:cNvSpPr txBox="1"/>
          <p:nvPr/>
        </p:nvSpPr>
        <p:spPr>
          <a:xfrm>
            <a:off x="1939891" y="611408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6083" name="A2C0I3N"/>
          <p:cNvSpPr txBox="1"/>
          <p:nvPr/>
        </p:nvSpPr>
        <p:spPr>
          <a:xfrm>
            <a:off x="530000" y="63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Automation brand</a:t>
            </a:r>
          </a:p>
        </p:txBody>
      </p:sp>
      <p:sp>
        <p:nvSpPr>
          <p:cNvPr id="6084" name="A2C0I4N"/>
          <p:cNvSpPr txBox="1"/>
          <p:nvPr/>
        </p:nvSpPr>
        <p:spPr>
          <a:xfrm>
            <a:off x="530000" y="65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Google</a:t>
            </a:r>
          </a:p>
        </p:txBody>
      </p:sp>
      <p:sp>
        <p:nvSpPr>
          <p:cNvPr id="6085" name="A2C0I5N"/>
          <p:cNvSpPr txBox="1"/>
          <p:nvPr/>
        </p:nvSpPr>
        <p:spPr>
          <a:xfrm>
            <a:off x="530000" y="67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Govinda Luxury</a:t>
            </a:r>
          </a:p>
        </p:txBody>
      </p:sp>
      <p:sp>
        <p:nvSpPr>
          <p:cNvPr id="6086" name="A2C0I6N"/>
          <p:cNvSpPr txBox="1"/>
          <p:nvPr/>
        </p:nvSpPr>
        <p:spPr>
          <a:xfrm>
            <a:off x="530000" y="69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Cova Group</a:t>
            </a:r>
          </a:p>
        </p:txBody>
      </p:sp>
      <p:sp>
        <p:nvSpPr>
          <p:cNvPr id="6087" name="A2C0I7N"/>
          <p:cNvSpPr txBox="1"/>
          <p:nvPr/>
        </p:nvSpPr>
        <p:spPr>
          <a:xfrm>
            <a:off x="530000" y="71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Samsung Group</a:t>
            </a:r>
          </a:p>
        </p:txBody>
      </p:sp>
      <p:sp>
        <p:nvSpPr>
          <p:cNvPr id="6088" name="A2C1Bg"/>
          <p:cNvSpPr/>
          <p:nvPr/>
        </p:nvSpPr>
        <p:spPr>
          <a:xfrm>
            <a:off x="2699891" y="5299087"/>
            <a:ext cx="2159891" cy="263618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89" name="A2C1Lbl"/>
          <p:cNvSpPr txBox="1"/>
          <p:nvPr/>
        </p:nvSpPr>
        <p:spPr>
          <a:xfrm>
            <a:off x="2789891" y="5419087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090" name="A2C1UL"/>
          <p:cNvSpPr/>
          <p:nvPr/>
        </p:nvSpPr>
        <p:spPr>
          <a:xfrm>
            <a:off x="2789891" y="5594087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91" name="A2C1E"/>
          <p:cNvSpPr txBox="1"/>
          <p:nvPr/>
        </p:nvSpPr>
        <p:spPr>
          <a:xfrm>
            <a:off x="2789891" y="57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092" name="A2C2Bg"/>
          <p:cNvSpPr/>
          <p:nvPr/>
        </p:nvSpPr>
        <p:spPr>
          <a:xfrm>
            <a:off x="4959782" y="5299087"/>
            <a:ext cx="2159891" cy="263618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93" name="A2C2Lbl"/>
          <p:cNvSpPr txBox="1"/>
          <p:nvPr/>
        </p:nvSpPr>
        <p:spPr>
          <a:xfrm>
            <a:off x="5049782" y="5419087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094" name="A2C2UL"/>
          <p:cNvSpPr/>
          <p:nvPr/>
        </p:nvSpPr>
        <p:spPr>
          <a:xfrm>
            <a:off x="5049782" y="5594087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95" name="A2C2I0N"/>
          <p:cNvSpPr txBox="1"/>
          <p:nvPr/>
        </p:nvSpPr>
        <p:spPr>
          <a:xfrm>
            <a:off x="5049782" y="57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FrieslandCampina</a:t>
            </a:r>
          </a:p>
        </p:txBody>
      </p:sp>
      <p:sp>
        <p:nvSpPr>
          <p:cNvPr id="6096" name="A2C2I1N"/>
          <p:cNvSpPr txBox="1"/>
          <p:nvPr/>
        </p:nvSpPr>
        <p:spPr>
          <a:xfrm>
            <a:off x="5049782" y="59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Royal Caribbean Int’l</a:t>
            </a:r>
          </a:p>
        </p:txBody>
      </p:sp>
      <p:sp>
        <p:nvSpPr>
          <p:cNvPr id="6097" name="A3Bg"/>
          <p:cNvSpPr/>
          <p:nvPr/>
        </p:nvSpPr>
        <p:spPr>
          <a:xfrm>
            <a:off x="220000" y="8195276"/>
            <a:ext cx="7119675" cy="20041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98" name="A3Hdr"/>
          <p:cNvSpPr/>
          <p:nvPr/>
        </p:nvSpPr>
        <p:spPr>
          <a:xfrm>
            <a:off x="220000" y="8195276"/>
            <a:ext cx="7119675" cy="29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99" name="A3Nm"/>
          <p:cNvSpPr txBox="1"/>
          <p:nvPr/>
        </p:nvSpPr>
        <p:spPr>
          <a:xfrm>
            <a:off x="440000" y="8215276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spc="80" dirty="0">
                <a:solidFill>
                  <a:srgbClr val="FFFFFF"/>
                </a:solidFill>
                <a:latin typeface="Segoe UI"/>
              </a:rPr>
              <a:t>HEARTS &amp; SCIENCE</a:t>
            </a:r>
          </a:p>
        </p:txBody>
      </p:sp>
      <p:sp>
        <p:nvSpPr>
          <p:cNvPr id="6101" name="A3BadgeBg"/>
          <p:cNvSpPr/>
          <p:nvPr/>
        </p:nvSpPr>
        <p:spPr>
          <a:xfrm>
            <a:off x="5919675" y="8230276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02" name="A3BadgeTx"/>
          <p:cNvSpPr txBox="1"/>
          <p:nvPr/>
        </p:nvSpPr>
        <p:spPr>
          <a:xfrm>
            <a:off x="5919675" y="8230276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+19.0m$</a:t>
            </a:r>
          </a:p>
        </p:txBody>
      </p:sp>
      <p:sp>
        <p:nvSpPr>
          <p:cNvPr id="6103" name="A3Sep"/>
          <p:cNvSpPr/>
          <p:nvPr/>
        </p:nvSpPr>
        <p:spPr>
          <a:xfrm>
            <a:off x="440000" y="8485276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04" name="A3C0Bg"/>
          <p:cNvSpPr/>
          <p:nvPr/>
        </p:nvSpPr>
        <p:spPr>
          <a:xfrm>
            <a:off x="440000" y="8614276"/>
            <a:ext cx="2159891" cy="142512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05" name="A3C0Lbl"/>
          <p:cNvSpPr txBox="1"/>
          <p:nvPr/>
        </p:nvSpPr>
        <p:spPr>
          <a:xfrm>
            <a:off x="530000" y="873427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106" name="A3C0UL"/>
          <p:cNvSpPr/>
          <p:nvPr/>
        </p:nvSpPr>
        <p:spPr>
          <a:xfrm>
            <a:off x="530000" y="8909276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07" name="A3C0I0N"/>
          <p:cNvSpPr txBox="1"/>
          <p:nvPr/>
        </p:nvSpPr>
        <p:spPr>
          <a:xfrm>
            <a:off x="530000" y="902927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AS Watson</a:t>
            </a:r>
          </a:p>
        </p:txBody>
      </p:sp>
      <p:sp>
        <p:nvSpPr>
          <p:cNvPr id="6108" name="A3C0I0V"/>
          <p:cNvSpPr txBox="1"/>
          <p:nvPr/>
        </p:nvSpPr>
        <p:spPr>
          <a:xfrm>
            <a:off x="1939891" y="902927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+18.0m</a:t>
            </a:r>
          </a:p>
        </p:txBody>
      </p:sp>
      <p:sp>
        <p:nvSpPr>
          <p:cNvPr id="6109" name="A3C1Bg"/>
          <p:cNvSpPr/>
          <p:nvPr/>
        </p:nvSpPr>
        <p:spPr>
          <a:xfrm>
            <a:off x="2699891" y="8614276"/>
            <a:ext cx="2159891" cy="142512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10" name="A3C1Lbl"/>
          <p:cNvSpPr txBox="1"/>
          <p:nvPr/>
        </p:nvSpPr>
        <p:spPr>
          <a:xfrm>
            <a:off x="2789891" y="873427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111" name="A3C1UL"/>
          <p:cNvSpPr/>
          <p:nvPr/>
        </p:nvSpPr>
        <p:spPr>
          <a:xfrm>
            <a:off x="2789891" y="8909276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12" name="A3C1I0N"/>
          <p:cNvSpPr txBox="1"/>
          <p:nvPr/>
        </p:nvSpPr>
        <p:spPr>
          <a:xfrm>
            <a:off x="2789891" y="902927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Sili</a:t>
            </a:r>
          </a:p>
        </p:txBody>
      </p:sp>
      <p:sp>
        <p:nvSpPr>
          <p:cNvPr id="6113" name="A3C1I1N"/>
          <p:cNvSpPr txBox="1"/>
          <p:nvPr/>
        </p:nvSpPr>
        <p:spPr>
          <a:xfrm>
            <a:off x="2789891" y="922927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BOW And Bowen</a:t>
            </a:r>
          </a:p>
        </p:txBody>
      </p:sp>
      <p:sp>
        <p:nvSpPr>
          <p:cNvPr id="6114" name="A3C2Bg"/>
          <p:cNvSpPr/>
          <p:nvPr/>
        </p:nvSpPr>
        <p:spPr>
          <a:xfrm>
            <a:off x="4959782" y="8614276"/>
            <a:ext cx="2159891" cy="142512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15" name="A3C2Lbl"/>
          <p:cNvSpPr txBox="1"/>
          <p:nvPr/>
        </p:nvSpPr>
        <p:spPr>
          <a:xfrm>
            <a:off x="5049782" y="873427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116" name="A3C2UL"/>
          <p:cNvSpPr/>
          <p:nvPr/>
        </p:nvSpPr>
        <p:spPr>
          <a:xfrm>
            <a:off x="5049782" y="8909276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17" name="A3C2I0N"/>
          <p:cNvSpPr txBox="1"/>
          <p:nvPr/>
        </p:nvSpPr>
        <p:spPr>
          <a:xfrm>
            <a:off x="5049782" y="902927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Construction Bank</a:t>
            </a:r>
          </a:p>
        </p:txBody>
      </p:sp>
      <p:sp>
        <p:nvSpPr>
          <p:cNvPr id="6118" name="A3C2I1N"/>
          <p:cNvSpPr txBox="1"/>
          <p:nvPr/>
        </p:nvSpPr>
        <p:spPr>
          <a:xfrm>
            <a:off x="5049782" y="922927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MOX Bank</a:t>
            </a:r>
          </a:p>
        </p:txBody>
      </p:sp>
      <p:sp>
        <p:nvSpPr>
          <p:cNvPr id="6119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  <p:sp>
        <p:nvSpPr>
          <p:cNvPr id="2" name="TrackerBg">
            <a:extLst>
              <a:ext uri="{FF2B5EF4-FFF2-40B4-BE49-F238E27FC236}">
                <a16:creationId xmlns:a16="http://schemas.microsoft.com/office/drawing/2014/main" id="{1637CF22-35AC-8695-CF67-686C13E6410C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>
            <a:extLst>
              <a:ext uri="{FF2B5EF4-FFF2-40B4-BE49-F238E27FC236}">
                <a16:creationId xmlns:a16="http://schemas.microsoft.com/office/drawing/2014/main" id="{81AFA9E9-7565-2A5A-85D3-E1CF82E60AD7}"/>
              </a:ext>
            </a:extLst>
          </p:cNvPr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>
            <a:extLst>
              <a:ext uri="{FF2B5EF4-FFF2-40B4-BE49-F238E27FC236}">
                <a16:creationId xmlns:a16="http://schemas.microsoft.com/office/drawing/2014/main" id="{C0A75B6F-CC41-2FCC-CD44-127F52D625F5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>
            <a:extLst>
              <a:ext uri="{FF2B5EF4-FFF2-40B4-BE49-F238E27FC236}">
                <a16:creationId xmlns:a16="http://schemas.microsoft.com/office/drawing/2014/main" id="{9DA7A0F8-34BA-2095-CDA3-12077465CB33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>
            <a:extLst>
              <a:ext uri="{FF2B5EF4-FFF2-40B4-BE49-F238E27FC236}">
                <a16:creationId xmlns:a16="http://schemas.microsoft.com/office/drawing/2014/main" id="{CF339F53-822E-2AE5-5E7D-949A7A2524C0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>
            <a:extLst>
              <a:ext uri="{FF2B5EF4-FFF2-40B4-BE49-F238E27FC236}">
                <a16:creationId xmlns:a16="http://schemas.microsoft.com/office/drawing/2014/main" id="{6DDA54E3-558B-7CB2-0832-24A2BC9CB83F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>
            <a:extLst>
              <a:ext uri="{FF2B5EF4-FFF2-40B4-BE49-F238E27FC236}">
                <a16:creationId xmlns:a16="http://schemas.microsoft.com/office/drawing/2014/main" id="{29536C31-45D2-42DF-986D-D13F0FDE26F9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>
            <a:extLst>
              <a:ext uri="{FF2B5EF4-FFF2-40B4-BE49-F238E27FC236}">
                <a16:creationId xmlns:a16="http://schemas.microsoft.com/office/drawing/2014/main" id="{6CFACA55-1F9D-935A-2B0C-2869C8FF7D9C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>
            <a:extLst>
              <a:ext uri="{FF2B5EF4-FFF2-40B4-BE49-F238E27FC236}">
                <a16:creationId xmlns:a16="http://schemas.microsoft.com/office/drawing/2014/main" id="{AB53AC82-2D06-3D11-3871-837353DBCAD3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>
            <a:extLst>
              <a:ext uri="{FF2B5EF4-FFF2-40B4-BE49-F238E27FC236}">
                <a16:creationId xmlns:a16="http://schemas.microsoft.com/office/drawing/2014/main" id="{71A48FC0-14E4-72E8-9300-6D96E1B61127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>
            <a:extLst>
              <a:ext uri="{FF2B5EF4-FFF2-40B4-BE49-F238E27FC236}">
                <a16:creationId xmlns:a16="http://schemas.microsoft.com/office/drawing/2014/main" id="{054797E8-8FE2-CBAA-4B49-B038967586B8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>
            <a:extLst>
              <a:ext uri="{FF2B5EF4-FFF2-40B4-BE49-F238E27FC236}">
                <a16:creationId xmlns:a16="http://schemas.microsoft.com/office/drawing/2014/main" id="{EF50A8CA-AE6E-CE9D-3FF6-B684AE50F83A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>
            <a:extLst>
              <a:ext uri="{FF2B5EF4-FFF2-40B4-BE49-F238E27FC236}">
                <a16:creationId xmlns:a16="http://schemas.microsoft.com/office/drawing/2014/main" id="{C74AAA42-8A88-0043-611D-EC3D798BE036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5" name="TLbl3">
            <a:extLst>
              <a:ext uri="{FF2B5EF4-FFF2-40B4-BE49-F238E27FC236}">
                <a16:creationId xmlns:a16="http://schemas.microsoft.com/office/drawing/2014/main" id="{26F3E007-4292-7E1E-CC30-8817F334719C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>
            <a:extLst>
              <a:ext uri="{FF2B5EF4-FFF2-40B4-BE49-F238E27FC236}">
                <a16:creationId xmlns:a16="http://schemas.microsoft.com/office/drawing/2014/main" id="{5FA865FB-7845-90DE-99D0-1701ECAFC603}"/>
              </a:ext>
            </a:extLst>
          </p:cNvPr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" name="TLbl4">
            <a:extLst>
              <a:ext uri="{FF2B5EF4-FFF2-40B4-BE49-F238E27FC236}">
                <a16:creationId xmlns:a16="http://schemas.microsoft.com/office/drawing/2014/main" id="{04B7A4A6-43F9-6D9D-7773-E4BFCF7EAF4D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>
            <a:extLst>
              <a:ext uri="{FF2B5EF4-FFF2-40B4-BE49-F238E27FC236}">
                <a16:creationId xmlns:a16="http://schemas.microsoft.com/office/drawing/2014/main" id="{D7764C43-9DCB-F6E6-B0E0-C81A0B9B48CB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>
            <a:extLst>
              <a:ext uri="{FF2B5EF4-FFF2-40B4-BE49-F238E27FC236}">
                <a16:creationId xmlns:a16="http://schemas.microsoft.com/office/drawing/2014/main" id="{34560132-C763-F4E6-EA54-8876DBD93798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>
            <a:extLst>
              <a:ext uri="{FF2B5EF4-FFF2-40B4-BE49-F238E27FC236}">
                <a16:creationId xmlns:a16="http://schemas.microsoft.com/office/drawing/2014/main" id="{DD863826-93B0-36DD-F448-C74868F8313B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Line">
            <a:extLst>
              <a:ext uri="{FF2B5EF4-FFF2-40B4-BE49-F238E27FC236}">
                <a16:creationId xmlns:a16="http://schemas.microsoft.com/office/drawing/2014/main" id="{E769A04F-3046-F16E-DC67-EF243942B8C2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1">
            <a:extLst>
              <a:ext uri="{FF2B5EF4-FFF2-40B4-BE49-F238E27FC236}">
                <a16:creationId xmlns:a16="http://schemas.microsoft.com/office/drawing/2014/main" id="{DE0EF095-C11A-99DA-8E12-18200B5529CA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2">
            <a:extLst>
              <a:ext uri="{FF2B5EF4-FFF2-40B4-BE49-F238E27FC236}">
                <a16:creationId xmlns:a16="http://schemas.microsoft.com/office/drawing/2014/main" id="{30A7E1D9-68AB-D2C2-3FA8-4BDB68F6A0D7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rackerSep3">
            <a:extLst>
              <a:ext uri="{FF2B5EF4-FFF2-40B4-BE49-F238E27FC236}">
                <a16:creationId xmlns:a16="http://schemas.microsoft.com/office/drawing/2014/main" id="{D07D3085-2F9A-E14B-3A49-B43BB81C3C80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Num0">
            <a:extLst>
              <a:ext uri="{FF2B5EF4-FFF2-40B4-BE49-F238E27FC236}">
                <a16:creationId xmlns:a16="http://schemas.microsoft.com/office/drawing/2014/main" id="{104D430E-90C6-8A99-33BC-3143FFB2706C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7" name="TLbl0">
            <a:extLst>
              <a:ext uri="{FF2B5EF4-FFF2-40B4-BE49-F238E27FC236}">
                <a16:creationId xmlns:a16="http://schemas.microsoft.com/office/drawing/2014/main" id="{FCAE0641-680E-6B9C-1862-FC7462EE9B4E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" name="TNum1">
            <a:extLst>
              <a:ext uri="{FF2B5EF4-FFF2-40B4-BE49-F238E27FC236}">
                <a16:creationId xmlns:a16="http://schemas.microsoft.com/office/drawing/2014/main" id="{935D5E37-9F86-CDA4-1C2A-BE932413D249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9" name="TLbl1">
            <a:extLst>
              <a:ext uri="{FF2B5EF4-FFF2-40B4-BE49-F238E27FC236}">
                <a16:creationId xmlns:a16="http://schemas.microsoft.com/office/drawing/2014/main" id="{78E296DC-4560-DCE1-34D6-2A9C60B8C051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30" name="TNum2">
            <a:extLst>
              <a:ext uri="{FF2B5EF4-FFF2-40B4-BE49-F238E27FC236}">
                <a16:creationId xmlns:a16="http://schemas.microsoft.com/office/drawing/2014/main" id="{0EB5A3A0-4EC6-13BA-2976-9BEE1746121A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1" name="TLbl2">
            <a:extLst>
              <a:ext uri="{FF2B5EF4-FFF2-40B4-BE49-F238E27FC236}">
                <a16:creationId xmlns:a16="http://schemas.microsoft.com/office/drawing/2014/main" id="{4944FBEA-6243-F1B7-29A6-6ACAAADC045C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2" name="TNum3">
            <a:extLst>
              <a:ext uri="{FF2B5EF4-FFF2-40B4-BE49-F238E27FC236}">
                <a16:creationId xmlns:a16="http://schemas.microsoft.com/office/drawing/2014/main" id="{E10B7857-996B-78A7-FB6A-7CD4CD4F0982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33" name="TLbl3">
            <a:extLst>
              <a:ext uri="{FF2B5EF4-FFF2-40B4-BE49-F238E27FC236}">
                <a16:creationId xmlns:a16="http://schemas.microsoft.com/office/drawing/2014/main" id="{05073F3F-2759-52D1-5B98-6159713DDACD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34" name="TNum4">
            <a:extLst>
              <a:ext uri="{FF2B5EF4-FFF2-40B4-BE49-F238E27FC236}">
                <a16:creationId xmlns:a16="http://schemas.microsoft.com/office/drawing/2014/main" id="{60A7A5EB-AD9D-E9E6-FAA3-3DE557D78672}"/>
              </a:ext>
            </a:extLst>
          </p:cNvPr>
          <p:cNvSpPr txBox="1"/>
          <p:nvPr/>
        </p:nvSpPr>
        <p:spPr>
          <a:xfrm>
            <a:off x="5049782" y="29583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05</a:t>
            </a:r>
          </a:p>
        </p:txBody>
      </p:sp>
      <p:sp>
        <p:nvSpPr>
          <p:cNvPr id="35" name="TLbl4">
            <a:extLst>
              <a:ext uri="{FF2B5EF4-FFF2-40B4-BE49-F238E27FC236}">
                <a16:creationId xmlns:a16="http://schemas.microsoft.com/office/drawing/2014/main" id="{54D40E3F-CE28-554D-8BCA-6ACE84B78CF5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Retentions</a:t>
            </a:r>
          </a:p>
        </p:txBody>
      </p:sp>
      <p:sp>
        <p:nvSpPr>
          <p:cNvPr id="38" name="TrackerActive">
            <a:extLst>
              <a:ext uri="{FF2B5EF4-FFF2-40B4-BE49-F238E27FC236}">
                <a16:creationId xmlns:a16="http://schemas.microsoft.com/office/drawing/2014/main" id="{74471D07-EEC7-6F52-E5DE-5A2C7CF4B41C}"/>
              </a:ext>
            </a:extLst>
          </p:cNvPr>
          <p:cNvSpPr/>
          <p:nvPr/>
        </p:nvSpPr>
        <p:spPr>
          <a:xfrm>
            <a:off x="630031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5">
            <a:extLst>
              <a:ext uri="{FF2B5EF4-FFF2-40B4-BE49-F238E27FC236}">
                <a16:creationId xmlns:a16="http://schemas.microsoft.com/office/drawing/2014/main" id="{EB914F01-A089-2F15-E321-A6E00879FF88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06</a:t>
            </a:r>
          </a:p>
        </p:txBody>
      </p:sp>
      <p:sp>
        <p:nvSpPr>
          <p:cNvPr id="37" name="TLbl5">
            <a:extLst>
              <a:ext uri="{FF2B5EF4-FFF2-40B4-BE49-F238E27FC236}">
                <a16:creationId xmlns:a16="http://schemas.microsoft.com/office/drawing/2014/main" id="{E95B36FB-C1B6-BE20-3DD5-022BA4E30744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Details</a:t>
            </a:r>
          </a:p>
        </p:txBody>
      </p:sp>
      <p:sp>
        <p:nvSpPr>
          <p:cNvPr id="39" name="TrackerSep3">
            <a:extLst>
              <a:ext uri="{FF2B5EF4-FFF2-40B4-BE49-F238E27FC236}">
                <a16:creationId xmlns:a16="http://schemas.microsoft.com/office/drawing/2014/main" id="{DC81851B-4B36-42BF-4E37-D79BA4C7974E}"/>
              </a:ext>
            </a:extLst>
          </p:cNvPr>
          <p:cNvSpPr>
            <a:spLocks noGrp="1"/>
          </p:cNvSpPr>
          <p:nvPr/>
        </p:nvSpPr>
        <p:spPr>
          <a:xfrm rot="5400000">
            <a:off x="4996048" y="2994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Rectangle : coins arrondis 39">
            <a:hlinkClick r:id="rId3" action="ppaction://hlinksldjump"/>
            <a:extLst>
              <a:ext uri="{FF2B5EF4-FFF2-40B4-BE49-F238E27FC236}">
                <a16:creationId xmlns:a16="http://schemas.microsoft.com/office/drawing/2014/main" id="{5DFAE18D-A945-17DE-0D14-493D2D9C1A09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 : coins arrondis 40">
            <a:hlinkClick r:id="rId4" action="ppaction://hlinksldjump"/>
            <a:extLst>
              <a:ext uri="{FF2B5EF4-FFF2-40B4-BE49-F238E27FC236}">
                <a16:creationId xmlns:a16="http://schemas.microsoft.com/office/drawing/2014/main" id="{266F30E0-89CB-E14C-AFBB-B4D6952D9EDB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hlinkClick r:id="rId5" action="ppaction://hlinksldjump"/>
            <a:extLst>
              <a:ext uri="{FF2B5EF4-FFF2-40B4-BE49-F238E27FC236}">
                <a16:creationId xmlns:a16="http://schemas.microsoft.com/office/drawing/2014/main" id="{78533428-2F34-431D-C7DF-97DA1E50D847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 : coins arrondis 43">
            <a:hlinkClick r:id="rId6" action="ppaction://hlinksldjump"/>
            <a:extLst>
              <a:ext uri="{FF2B5EF4-FFF2-40B4-BE49-F238E27FC236}">
                <a16:creationId xmlns:a16="http://schemas.microsoft.com/office/drawing/2014/main" id="{14CF6EBD-C36E-13F9-97B5-084B3C8961F3}"/>
              </a:ext>
            </a:extLst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 : coins arrondis 44">
            <a:hlinkClick r:id="rId2" action="ppaction://hlinksldjump"/>
            <a:extLst>
              <a:ext uri="{FF2B5EF4-FFF2-40B4-BE49-F238E27FC236}">
                <a16:creationId xmlns:a16="http://schemas.microsoft.com/office/drawing/2014/main" id="{4C5DA102-F97C-0775-B271-835FE7784148}"/>
              </a:ext>
            </a:extLst>
          </p:cNvPr>
          <p:cNvSpPr/>
          <p:nvPr/>
        </p:nvSpPr>
        <p:spPr>
          <a:xfrm>
            <a:off x="5194897" y="45678"/>
            <a:ext cx="1019833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 : coins arrondis 40">
            <a:hlinkClick r:id="rId2" action="ppaction://hlinksldjump"/>
            <a:extLst>
              <a:ext uri="{FF2B5EF4-FFF2-40B4-BE49-F238E27FC236}">
                <a16:creationId xmlns:a16="http://schemas.microsoft.com/office/drawing/2014/main" id="{411231D2-5B37-858C-4D15-C50B8FCC03CA}"/>
              </a:ext>
            </a:extLst>
          </p:cNvPr>
          <p:cNvSpPr/>
          <p:nvPr/>
        </p:nvSpPr>
        <p:spPr>
          <a:xfrm>
            <a:off x="5284791" y="29583"/>
            <a:ext cx="936715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21" name="A0Bg"/>
          <p:cNvSpPr/>
          <p:nvPr/>
        </p:nvSpPr>
        <p:spPr>
          <a:xfrm>
            <a:off x="220000" y="470000"/>
            <a:ext cx="7119675" cy="25727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22" name="A0Hdr"/>
          <p:cNvSpPr/>
          <p:nvPr/>
        </p:nvSpPr>
        <p:spPr>
          <a:xfrm>
            <a:off x="219998" y="474782"/>
            <a:ext cx="7119675" cy="29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E699"/>
              </a:solidFill>
            </a:endParaRPr>
          </a:p>
        </p:txBody>
      </p:sp>
      <p:sp>
        <p:nvSpPr>
          <p:cNvPr id="11023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PHD</a:t>
            </a:r>
          </a:p>
        </p:txBody>
      </p:sp>
      <p:sp>
        <p:nvSpPr>
          <p:cNvPr id="11025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6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+17.0m$</a:t>
            </a:r>
          </a:p>
        </p:txBody>
      </p:sp>
      <p:sp>
        <p:nvSpPr>
          <p:cNvPr id="11027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8" name="A0C0Bg"/>
          <p:cNvSpPr/>
          <p:nvPr/>
        </p:nvSpPr>
        <p:spPr>
          <a:xfrm>
            <a:off x="440000" y="889000"/>
            <a:ext cx="2159891" cy="19937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29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030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31" name="A0C0I0N"/>
          <p:cNvSpPr txBox="1"/>
          <p:nvPr/>
        </p:nvSpPr>
        <p:spPr>
          <a:xfrm>
            <a:off x="530000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Jung Kwun Jang</a:t>
            </a:r>
          </a:p>
        </p:txBody>
      </p:sp>
      <p:sp>
        <p:nvSpPr>
          <p:cNvPr id="11032" name="A0C0I0V"/>
          <p:cNvSpPr txBox="1"/>
          <p:nvPr/>
        </p:nvSpPr>
        <p:spPr>
          <a:xfrm>
            <a:off x="1939891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+12.0m</a:t>
            </a:r>
          </a:p>
        </p:txBody>
      </p:sp>
      <p:sp>
        <p:nvSpPr>
          <p:cNvPr id="11033" name="A0C0I1N"/>
          <p:cNvSpPr txBox="1"/>
          <p:nvPr/>
        </p:nvSpPr>
        <p:spPr>
          <a:xfrm>
            <a:off x="530000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JD.com</a:t>
            </a:r>
          </a:p>
        </p:txBody>
      </p:sp>
      <p:sp>
        <p:nvSpPr>
          <p:cNvPr id="11034" name="A0C0I1V"/>
          <p:cNvSpPr txBox="1"/>
          <p:nvPr/>
        </p:nvSpPr>
        <p:spPr>
          <a:xfrm>
            <a:off x="1939891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11035" name="A0C0I2N"/>
          <p:cNvSpPr txBox="1"/>
          <p:nvPr/>
        </p:nvSpPr>
        <p:spPr>
          <a:xfrm>
            <a:off x="530000" y="17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Korea Ginseng</a:t>
            </a:r>
          </a:p>
        </p:txBody>
      </p:sp>
      <p:sp>
        <p:nvSpPr>
          <p:cNvPr id="11036" name="A0C0I3N"/>
          <p:cNvSpPr txBox="1"/>
          <p:nvPr/>
        </p:nvSpPr>
        <p:spPr>
          <a:xfrm>
            <a:off x="530000" y="19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IQAIR</a:t>
            </a:r>
          </a:p>
        </p:txBody>
      </p:sp>
      <p:sp>
        <p:nvSpPr>
          <p:cNvPr id="11037" name="A0C0I4N"/>
          <p:cNvSpPr txBox="1"/>
          <p:nvPr/>
        </p:nvSpPr>
        <p:spPr>
          <a:xfrm>
            <a:off x="530000" y="21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HFP NAIL</a:t>
            </a:r>
          </a:p>
        </p:txBody>
      </p:sp>
      <p:sp>
        <p:nvSpPr>
          <p:cNvPr id="11038" name="A0C0I5N"/>
          <p:cNvSpPr txBox="1"/>
          <p:nvPr/>
        </p:nvSpPr>
        <p:spPr>
          <a:xfrm>
            <a:off x="530000" y="2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EL BESIM</a:t>
            </a:r>
          </a:p>
        </p:txBody>
      </p:sp>
      <p:sp>
        <p:nvSpPr>
          <p:cNvPr id="11039" name="A0C0I6N"/>
          <p:cNvSpPr txBox="1"/>
          <p:nvPr/>
        </p:nvSpPr>
        <p:spPr>
          <a:xfrm>
            <a:off x="530000" y="25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MINUS Cosmetics</a:t>
            </a:r>
          </a:p>
        </p:txBody>
      </p:sp>
      <p:sp>
        <p:nvSpPr>
          <p:cNvPr id="11040" name="A0C1Bg"/>
          <p:cNvSpPr/>
          <p:nvPr/>
        </p:nvSpPr>
        <p:spPr>
          <a:xfrm>
            <a:off x="2699891" y="889000"/>
            <a:ext cx="2159891" cy="19937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41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042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43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Vitasoy</a:t>
            </a:r>
          </a:p>
        </p:txBody>
      </p:sp>
      <p:sp>
        <p:nvSpPr>
          <p:cNvPr id="11044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-9.0m</a:t>
            </a:r>
          </a:p>
        </p:txBody>
      </p:sp>
      <p:sp>
        <p:nvSpPr>
          <p:cNvPr id="11045" name="A0C2Bg"/>
          <p:cNvSpPr/>
          <p:nvPr/>
        </p:nvSpPr>
        <p:spPr>
          <a:xfrm>
            <a:off x="4959782" y="889000"/>
            <a:ext cx="2159891" cy="19937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46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047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48" name="A0C2I0N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Construction Bank</a:t>
            </a:r>
          </a:p>
        </p:txBody>
      </p:sp>
      <p:sp>
        <p:nvSpPr>
          <p:cNvPr id="11049" name="A0C2I1N"/>
          <p:cNvSpPr txBox="1"/>
          <p:nvPr/>
        </p:nvSpPr>
        <p:spPr>
          <a:xfrm>
            <a:off x="5049782" y="15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MOX Bank</a:t>
            </a:r>
          </a:p>
        </p:txBody>
      </p:sp>
      <p:sp>
        <p:nvSpPr>
          <p:cNvPr id="11050" name="A1Bg"/>
          <p:cNvSpPr/>
          <p:nvPr/>
        </p:nvSpPr>
        <p:spPr>
          <a:xfrm>
            <a:off x="220000" y="3142766"/>
            <a:ext cx="7119675" cy="2055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51" name="A1Hdr"/>
          <p:cNvSpPr/>
          <p:nvPr/>
        </p:nvSpPr>
        <p:spPr>
          <a:xfrm>
            <a:off x="220000" y="3142766"/>
            <a:ext cx="7119675" cy="29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EADD"/>
              </a:solidFill>
            </a:endParaRPr>
          </a:p>
        </p:txBody>
      </p:sp>
      <p:sp>
        <p:nvSpPr>
          <p:cNvPr id="11052" name="A1Nm"/>
          <p:cNvSpPr txBox="1"/>
          <p:nvPr/>
        </p:nvSpPr>
        <p:spPr>
          <a:xfrm>
            <a:off x="440000" y="3162766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ZENITH</a:t>
            </a:r>
          </a:p>
        </p:txBody>
      </p:sp>
      <p:sp>
        <p:nvSpPr>
          <p:cNvPr id="11054" name="A1BadgeBg"/>
          <p:cNvSpPr/>
          <p:nvPr/>
        </p:nvSpPr>
        <p:spPr>
          <a:xfrm>
            <a:off x="5919675" y="3177766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55" name="A1BadgeTx"/>
          <p:cNvSpPr txBox="1"/>
          <p:nvPr/>
        </p:nvSpPr>
        <p:spPr>
          <a:xfrm>
            <a:off x="5919675" y="3177766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+15.0m$</a:t>
            </a:r>
          </a:p>
        </p:txBody>
      </p:sp>
      <p:sp>
        <p:nvSpPr>
          <p:cNvPr id="11056" name="A1Sep"/>
          <p:cNvSpPr/>
          <p:nvPr/>
        </p:nvSpPr>
        <p:spPr>
          <a:xfrm>
            <a:off x="440000" y="3432766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57" name="A1C0Bg"/>
          <p:cNvSpPr/>
          <p:nvPr/>
        </p:nvSpPr>
        <p:spPr>
          <a:xfrm>
            <a:off x="440000" y="3561766"/>
            <a:ext cx="2159891" cy="1476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58" name="A1C0Lbl"/>
          <p:cNvSpPr txBox="1"/>
          <p:nvPr/>
        </p:nvSpPr>
        <p:spPr>
          <a:xfrm>
            <a:off x="530000" y="36817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059" name="A1C0UL"/>
          <p:cNvSpPr/>
          <p:nvPr/>
        </p:nvSpPr>
        <p:spPr>
          <a:xfrm>
            <a:off x="530000" y="3856766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60" name="A1C0I0N"/>
          <p:cNvSpPr txBox="1"/>
          <p:nvPr/>
        </p:nvSpPr>
        <p:spPr>
          <a:xfrm>
            <a:off x="530000" y="39767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Mobile Int’l</a:t>
            </a:r>
          </a:p>
        </p:txBody>
      </p:sp>
      <p:sp>
        <p:nvSpPr>
          <p:cNvPr id="11061" name="A1C0I0V"/>
          <p:cNvSpPr txBox="1"/>
          <p:nvPr/>
        </p:nvSpPr>
        <p:spPr>
          <a:xfrm>
            <a:off x="1939891" y="39767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+10.0m</a:t>
            </a:r>
          </a:p>
        </p:txBody>
      </p:sp>
      <p:sp>
        <p:nvSpPr>
          <p:cNvPr id="11062" name="A1C0I1N"/>
          <p:cNvSpPr txBox="1"/>
          <p:nvPr/>
        </p:nvSpPr>
        <p:spPr>
          <a:xfrm>
            <a:off x="530000" y="41767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Mars</a:t>
            </a:r>
          </a:p>
        </p:txBody>
      </p:sp>
      <p:sp>
        <p:nvSpPr>
          <p:cNvPr id="11063" name="A1C0I1V"/>
          <p:cNvSpPr txBox="1"/>
          <p:nvPr/>
        </p:nvSpPr>
        <p:spPr>
          <a:xfrm>
            <a:off x="1939891" y="41767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11064" name="A1C0I2N"/>
          <p:cNvSpPr txBox="1"/>
          <p:nvPr/>
        </p:nvSpPr>
        <p:spPr>
          <a:xfrm>
            <a:off x="530000" y="43767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MTR</a:t>
            </a:r>
          </a:p>
        </p:txBody>
      </p:sp>
      <p:sp>
        <p:nvSpPr>
          <p:cNvPr id="11065" name="A1C0I3N"/>
          <p:cNvSpPr txBox="1"/>
          <p:nvPr/>
        </p:nvSpPr>
        <p:spPr>
          <a:xfrm>
            <a:off x="530000" y="45767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Cathay Pacific</a:t>
            </a:r>
          </a:p>
        </p:txBody>
      </p:sp>
      <p:sp>
        <p:nvSpPr>
          <p:cNvPr id="11066" name="A1C1Bg"/>
          <p:cNvSpPr/>
          <p:nvPr/>
        </p:nvSpPr>
        <p:spPr>
          <a:xfrm>
            <a:off x="2699891" y="3561766"/>
            <a:ext cx="2159891" cy="1476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67" name="A1C1Lbl"/>
          <p:cNvSpPr txBox="1"/>
          <p:nvPr/>
        </p:nvSpPr>
        <p:spPr>
          <a:xfrm>
            <a:off x="2789891" y="36817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068" name="A1C1UL"/>
          <p:cNvSpPr/>
          <p:nvPr/>
        </p:nvSpPr>
        <p:spPr>
          <a:xfrm>
            <a:off x="2789891" y="3856766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69" name="A1C1I0N"/>
          <p:cNvSpPr txBox="1"/>
          <p:nvPr/>
        </p:nvSpPr>
        <p:spPr>
          <a:xfrm>
            <a:off x="2789891" y="39767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Bank of China HK</a:t>
            </a:r>
          </a:p>
        </p:txBody>
      </p:sp>
      <p:sp>
        <p:nvSpPr>
          <p:cNvPr id="11070" name="A1C1I0V"/>
          <p:cNvSpPr txBox="1"/>
          <p:nvPr/>
        </p:nvSpPr>
        <p:spPr>
          <a:xfrm>
            <a:off x="4199782" y="39767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-5.0m</a:t>
            </a:r>
          </a:p>
        </p:txBody>
      </p:sp>
      <p:sp>
        <p:nvSpPr>
          <p:cNvPr id="11071" name="A1C1I1N"/>
          <p:cNvSpPr txBox="1"/>
          <p:nvPr/>
        </p:nvSpPr>
        <p:spPr>
          <a:xfrm>
            <a:off x="2789891" y="41767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 Disneyland</a:t>
            </a:r>
          </a:p>
        </p:txBody>
      </p:sp>
      <p:sp>
        <p:nvSpPr>
          <p:cNvPr id="11072" name="A1C1I1V"/>
          <p:cNvSpPr txBox="1"/>
          <p:nvPr/>
        </p:nvSpPr>
        <p:spPr>
          <a:xfrm>
            <a:off x="4199782" y="41767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-4.0m</a:t>
            </a:r>
          </a:p>
        </p:txBody>
      </p:sp>
      <p:sp>
        <p:nvSpPr>
          <p:cNvPr id="11073" name="A1C2Bg"/>
          <p:cNvSpPr/>
          <p:nvPr/>
        </p:nvSpPr>
        <p:spPr>
          <a:xfrm>
            <a:off x="4959782" y="3561766"/>
            <a:ext cx="2159891" cy="1476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74" name="A1C2Lbl"/>
          <p:cNvSpPr txBox="1"/>
          <p:nvPr/>
        </p:nvSpPr>
        <p:spPr>
          <a:xfrm>
            <a:off x="5049782" y="36817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075" name="A1C2UL"/>
          <p:cNvSpPr/>
          <p:nvPr/>
        </p:nvSpPr>
        <p:spPr>
          <a:xfrm>
            <a:off x="5049782" y="3856766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76" name="A1C2I0N"/>
          <p:cNvSpPr txBox="1"/>
          <p:nvPr/>
        </p:nvSpPr>
        <p:spPr>
          <a:xfrm>
            <a:off x="5049782" y="39767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 Disneyland</a:t>
            </a:r>
          </a:p>
        </p:txBody>
      </p:sp>
      <p:sp>
        <p:nvSpPr>
          <p:cNvPr id="11077" name="A2Bg"/>
          <p:cNvSpPr/>
          <p:nvPr/>
        </p:nvSpPr>
        <p:spPr>
          <a:xfrm>
            <a:off x="220000" y="5298533"/>
            <a:ext cx="7119675" cy="17111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78" name="A2Hdr"/>
          <p:cNvSpPr/>
          <p:nvPr/>
        </p:nvSpPr>
        <p:spPr>
          <a:xfrm>
            <a:off x="220000" y="5298533"/>
            <a:ext cx="7119675" cy="29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79" name="A2Nm"/>
          <p:cNvSpPr txBox="1"/>
          <p:nvPr/>
        </p:nvSpPr>
        <p:spPr>
          <a:xfrm>
            <a:off x="440000" y="5318533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spc="80" dirty="0">
                <a:solidFill>
                  <a:srgbClr val="FFFFFF"/>
                </a:solidFill>
                <a:latin typeface="Segoe UI"/>
              </a:rPr>
              <a:t>UM INCL. INITIATIVE</a:t>
            </a:r>
          </a:p>
        </p:txBody>
      </p:sp>
      <p:sp>
        <p:nvSpPr>
          <p:cNvPr id="11081" name="A2BadgeBg"/>
          <p:cNvSpPr/>
          <p:nvPr/>
        </p:nvSpPr>
        <p:spPr>
          <a:xfrm>
            <a:off x="5919675" y="5333533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2" name="A2BadgeTx"/>
          <p:cNvSpPr txBox="1"/>
          <p:nvPr/>
        </p:nvSpPr>
        <p:spPr>
          <a:xfrm>
            <a:off x="5919675" y="5333533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+13.0m$</a:t>
            </a:r>
          </a:p>
        </p:txBody>
      </p:sp>
      <p:sp>
        <p:nvSpPr>
          <p:cNvPr id="11083" name="A2Sep"/>
          <p:cNvSpPr/>
          <p:nvPr/>
        </p:nvSpPr>
        <p:spPr>
          <a:xfrm>
            <a:off x="440000" y="5588533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4" name="A2C0Bg"/>
          <p:cNvSpPr/>
          <p:nvPr/>
        </p:nvSpPr>
        <p:spPr>
          <a:xfrm>
            <a:off x="440000" y="5717533"/>
            <a:ext cx="2159891" cy="11321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85" name="A2C0Lbl"/>
          <p:cNvSpPr txBox="1"/>
          <p:nvPr/>
        </p:nvSpPr>
        <p:spPr>
          <a:xfrm>
            <a:off x="530000" y="58375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086" name="A2C0UL"/>
          <p:cNvSpPr/>
          <p:nvPr/>
        </p:nvSpPr>
        <p:spPr>
          <a:xfrm>
            <a:off x="530000" y="6012533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7" name="A2C0I0N"/>
          <p:cNvSpPr txBox="1"/>
          <p:nvPr/>
        </p:nvSpPr>
        <p:spPr>
          <a:xfrm>
            <a:off x="530000" y="61325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OSIM</a:t>
            </a:r>
          </a:p>
        </p:txBody>
      </p:sp>
      <p:sp>
        <p:nvSpPr>
          <p:cNvPr id="11088" name="A2C0I0V"/>
          <p:cNvSpPr txBox="1"/>
          <p:nvPr/>
        </p:nvSpPr>
        <p:spPr>
          <a:xfrm>
            <a:off x="1939891" y="61325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+14.0m</a:t>
            </a:r>
          </a:p>
        </p:txBody>
      </p:sp>
      <p:sp>
        <p:nvSpPr>
          <p:cNvPr id="11089" name="A2C0I1N"/>
          <p:cNvSpPr txBox="1"/>
          <p:nvPr/>
        </p:nvSpPr>
        <p:spPr>
          <a:xfrm>
            <a:off x="530000" y="63325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Bank of China HK</a:t>
            </a:r>
          </a:p>
        </p:txBody>
      </p:sp>
      <p:sp>
        <p:nvSpPr>
          <p:cNvPr id="11090" name="A2C0I1V"/>
          <p:cNvSpPr txBox="1"/>
          <p:nvPr/>
        </p:nvSpPr>
        <p:spPr>
          <a:xfrm>
            <a:off x="1939891" y="63325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11091" name="A2C1Bg"/>
          <p:cNvSpPr/>
          <p:nvPr/>
        </p:nvSpPr>
        <p:spPr>
          <a:xfrm>
            <a:off x="2699891" y="5717533"/>
            <a:ext cx="2159891" cy="11321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92" name="A2C1Lbl"/>
          <p:cNvSpPr txBox="1"/>
          <p:nvPr/>
        </p:nvSpPr>
        <p:spPr>
          <a:xfrm>
            <a:off x="2789891" y="58375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093" name="A2C1UL"/>
          <p:cNvSpPr/>
          <p:nvPr/>
        </p:nvSpPr>
        <p:spPr>
          <a:xfrm>
            <a:off x="2789891" y="6012533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94" name="A2C1I0N"/>
          <p:cNvSpPr txBox="1"/>
          <p:nvPr/>
        </p:nvSpPr>
        <p:spPr>
          <a:xfrm>
            <a:off x="2789891" y="61325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Nestlé</a:t>
            </a:r>
          </a:p>
        </p:txBody>
      </p:sp>
      <p:sp>
        <p:nvSpPr>
          <p:cNvPr id="11095" name="A2C1I0V"/>
          <p:cNvSpPr txBox="1"/>
          <p:nvPr/>
        </p:nvSpPr>
        <p:spPr>
          <a:xfrm>
            <a:off x="4199782" y="61325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-13.0m</a:t>
            </a:r>
          </a:p>
        </p:txBody>
      </p:sp>
      <p:sp>
        <p:nvSpPr>
          <p:cNvPr id="11096" name="A2C1I1N"/>
          <p:cNvSpPr txBox="1"/>
          <p:nvPr/>
        </p:nvSpPr>
        <p:spPr>
          <a:xfrm>
            <a:off x="2789891" y="63325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Shangri-La Hotels</a:t>
            </a:r>
          </a:p>
        </p:txBody>
      </p:sp>
      <p:sp>
        <p:nvSpPr>
          <p:cNvPr id="11097" name="A2C1I1V"/>
          <p:cNvSpPr txBox="1"/>
          <p:nvPr/>
        </p:nvSpPr>
        <p:spPr>
          <a:xfrm>
            <a:off x="4199782" y="63325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-10.0m</a:t>
            </a:r>
          </a:p>
        </p:txBody>
      </p:sp>
      <p:sp>
        <p:nvSpPr>
          <p:cNvPr id="11098" name="A2C2Bg"/>
          <p:cNvSpPr/>
          <p:nvPr/>
        </p:nvSpPr>
        <p:spPr>
          <a:xfrm>
            <a:off x="4959782" y="5717533"/>
            <a:ext cx="2159891" cy="11321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99" name="A2C2Lbl"/>
          <p:cNvSpPr txBox="1"/>
          <p:nvPr/>
        </p:nvSpPr>
        <p:spPr>
          <a:xfrm>
            <a:off x="5049782" y="58375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100" name="A2C2UL"/>
          <p:cNvSpPr/>
          <p:nvPr/>
        </p:nvSpPr>
        <p:spPr>
          <a:xfrm>
            <a:off x="5049782" y="6012533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01" name="A2C2I0N"/>
          <p:cNvSpPr txBox="1"/>
          <p:nvPr/>
        </p:nvSpPr>
        <p:spPr>
          <a:xfrm>
            <a:off x="5049782" y="61325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Golden House Ritz</a:t>
            </a:r>
          </a:p>
        </p:txBody>
      </p:sp>
      <p:sp>
        <p:nvSpPr>
          <p:cNvPr id="11102" name="A2C2I1N"/>
          <p:cNvSpPr txBox="1"/>
          <p:nvPr/>
        </p:nvSpPr>
        <p:spPr>
          <a:xfrm>
            <a:off x="5049782" y="63325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Chartiers Tiffany</a:t>
            </a:r>
          </a:p>
        </p:txBody>
      </p:sp>
      <p:sp>
        <p:nvSpPr>
          <p:cNvPr id="11103" name="A3Bg"/>
          <p:cNvSpPr/>
          <p:nvPr/>
        </p:nvSpPr>
        <p:spPr>
          <a:xfrm>
            <a:off x="220000" y="7109633"/>
            <a:ext cx="7119675" cy="3089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04" name="A3Hdr"/>
          <p:cNvSpPr/>
          <p:nvPr/>
        </p:nvSpPr>
        <p:spPr>
          <a:xfrm>
            <a:off x="220000" y="7109633"/>
            <a:ext cx="7119675" cy="29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05" name="A3Nm"/>
          <p:cNvSpPr txBox="1"/>
          <p:nvPr/>
        </p:nvSpPr>
        <p:spPr>
          <a:xfrm>
            <a:off x="440000" y="7129633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OMD</a:t>
            </a:r>
          </a:p>
        </p:txBody>
      </p:sp>
      <p:sp>
        <p:nvSpPr>
          <p:cNvPr id="11107" name="A3BadgeBg"/>
          <p:cNvSpPr/>
          <p:nvPr/>
        </p:nvSpPr>
        <p:spPr>
          <a:xfrm>
            <a:off x="5919675" y="7144633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08" name="A3BadgeTx"/>
          <p:cNvSpPr txBox="1"/>
          <p:nvPr/>
        </p:nvSpPr>
        <p:spPr>
          <a:xfrm>
            <a:off x="5919675" y="7144633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+6.0m$</a:t>
            </a:r>
          </a:p>
        </p:txBody>
      </p:sp>
      <p:sp>
        <p:nvSpPr>
          <p:cNvPr id="11109" name="A3Sep"/>
          <p:cNvSpPr/>
          <p:nvPr/>
        </p:nvSpPr>
        <p:spPr>
          <a:xfrm>
            <a:off x="440000" y="7399633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10" name="A3C0Bg"/>
          <p:cNvSpPr/>
          <p:nvPr/>
        </p:nvSpPr>
        <p:spPr>
          <a:xfrm>
            <a:off x="440000" y="7528633"/>
            <a:ext cx="2159891" cy="2510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11" name="A3C0Lbl"/>
          <p:cNvSpPr txBox="1"/>
          <p:nvPr/>
        </p:nvSpPr>
        <p:spPr>
          <a:xfrm>
            <a:off x="530000" y="76486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112" name="A3C0UL"/>
          <p:cNvSpPr/>
          <p:nvPr/>
        </p:nvSpPr>
        <p:spPr>
          <a:xfrm>
            <a:off x="530000" y="7823633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13" name="A3C0I0N"/>
          <p:cNvSpPr txBox="1"/>
          <p:nvPr/>
        </p:nvSpPr>
        <p:spPr>
          <a:xfrm>
            <a:off x="530000" y="79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HKMC Annuity</a:t>
            </a:r>
          </a:p>
        </p:txBody>
      </p:sp>
      <p:sp>
        <p:nvSpPr>
          <p:cNvPr id="11114" name="A3C0I0V"/>
          <p:cNvSpPr txBox="1"/>
          <p:nvPr/>
        </p:nvSpPr>
        <p:spPr>
          <a:xfrm>
            <a:off x="1939891" y="79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+7.0m</a:t>
            </a:r>
          </a:p>
        </p:txBody>
      </p:sp>
      <p:sp>
        <p:nvSpPr>
          <p:cNvPr id="11115" name="A3C0I1N"/>
          <p:cNvSpPr txBox="1"/>
          <p:nvPr/>
        </p:nvSpPr>
        <p:spPr>
          <a:xfrm>
            <a:off x="530000" y="81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Inova Pharmaceutical</a:t>
            </a:r>
          </a:p>
        </p:txBody>
      </p:sp>
      <p:sp>
        <p:nvSpPr>
          <p:cNvPr id="11116" name="A3C0I1V"/>
          <p:cNvSpPr txBox="1"/>
          <p:nvPr/>
        </p:nvSpPr>
        <p:spPr>
          <a:xfrm>
            <a:off x="1939891" y="81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11117" name="A3C0I2N"/>
          <p:cNvSpPr txBox="1"/>
          <p:nvPr/>
        </p:nvSpPr>
        <p:spPr>
          <a:xfrm>
            <a:off x="530000" y="83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Prudential Wealth Mgmt</a:t>
            </a:r>
          </a:p>
        </p:txBody>
      </p:sp>
      <p:sp>
        <p:nvSpPr>
          <p:cNvPr id="11118" name="A3C0I2V"/>
          <p:cNvSpPr txBox="1"/>
          <p:nvPr/>
        </p:nvSpPr>
        <p:spPr>
          <a:xfrm>
            <a:off x="1939891" y="83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11119" name="A3C0I3N"/>
          <p:cNvSpPr txBox="1"/>
          <p:nvPr/>
        </p:nvSpPr>
        <p:spPr>
          <a:xfrm>
            <a:off x="530000" y="85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Kimberly Clark</a:t>
            </a:r>
          </a:p>
        </p:txBody>
      </p:sp>
      <p:sp>
        <p:nvSpPr>
          <p:cNvPr id="11120" name="A3C0I3V"/>
          <p:cNvSpPr txBox="1"/>
          <p:nvPr/>
        </p:nvSpPr>
        <p:spPr>
          <a:xfrm>
            <a:off x="1939891" y="85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11121" name="A3C0I4N"/>
          <p:cNvSpPr txBox="1"/>
          <p:nvPr/>
        </p:nvSpPr>
        <p:spPr>
          <a:xfrm>
            <a:off x="530000" y="87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Resources Land</a:t>
            </a:r>
          </a:p>
        </p:txBody>
      </p:sp>
      <p:sp>
        <p:nvSpPr>
          <p:cNvPr id="11122" name="A3C0I4V"/>
          <p:cNvSpPr txBox="1"/>
          <p:nvPr/>
        </p:nvSpPr>
        <p:spPr>
          <a:xfrm>
            <a:off x="1939891" y="87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11123" name="A3C0I5N"/>
          <p:cNvSpPr txBox="1"/>
          <p:nvPr/>
        </p:nvSpPr>
        <p:spPr>
          <a:xfrm>
            <a:off x="530000" y="89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FARCO Pharmaceutical</a:t>
            </a:r>
          </a:p>
        </p:txBody>
      </p:sp>
      <p:sp>
        <p:nvSpPr>
          <p:cNvPr id="11124" name="A3C0I6N"/>
          <p:cNvSpPr txBox="1"/>
          <p:nvPr/>
        </p:nvSpPr>
        <p:spPr>
          <a:xfrm>
            <a:off x="530000" y="91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 Life Insurance</a:t>
            </a:r>
          </a:p>
        </p:txBody>
      </p:sp>
      <p:sp>
        <p:nvSpPr>
          <p:cNvPr id="11125" name="A3C0I7N"/>
          <p:cNvSpPr txBox="1"/>
          <p:nvPr/>
        </p:nvSpPr>
        <p:spPr>
          <a:xfrm>
            <a:off x="530000" y="93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Hopewell Holdings</a:t>
            </a:r>
          </a:p>
        </p:txBody>
      </p:sp>
      <p:sp>
        <p:nvSpPr>
          <p:cNvPr id="11126" name="A3C0I8N"/>
          <p:cNvSpPr txBox="1"/>
          <p:nvPr/>
        </p:nvSpPr>
        <p:spPr>
          <a:xfrm>
            <a:off x="530000" y="95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Hang Seng University</a:t>
            </a:r>
          </a:p>
        </p:txBody>
      </p:sp>
      <p:sp>
        <p:nvSpPr>
          <p:cNvPr id="11127" name="A3C0I9N"/>
          <p:cNvSpPr txBox="1"/>
          <p:nvPr/>
        </p:nvSpPr>
        <p:spPr>
          <a:xfrm>
            <a:off x="530000" y="97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MISS HANA</a:t>
            </a:r>
          </a:p>
        </p:txBody>
      </p:sp>
      <p:sp>
        <p:nvSpPr>
          <p:cNvPr id="11128" name="A3C1Bg"/>
          <p:cNvSpPr/>
          <p:nvPr/>
        </p:nvSpPr>
        <p:spPr>
          <a:xfrm>
            <a:off x="2699891" y="7528633"/>
            <a:ext cx="2159891" cy="2510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29" name="A3C1Lbl"/>
          <p:cNvSpPr txBox="1"/>
          <p:nvPr/>
        </p:nvSpPr>
        <p:spPr>
          <a:xfrm>
            <a:off x="2789891" y="76486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130" name="A3C1UL"/>
          <p:cNvSpPr/>
          <p:nvPr/>
        </p:nvSpPr>
        <p:spPr>
          <a:xfrm>
            <a:off x="2789891" y="7823633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31" name="A3C1I0N"/>
          <p:cNvSpPr txBox="1"/>
          <p:nvPr/>
        </p:nvSpPr>
        <p:spPr>
          <a:xfrm>
            <a:off x="2789891" y="79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Nestlé</a:t>
            </a:r>
          </a:p>
        </p:txBody>
      </p:sp>
      <p:sp>
        <p:nvSpPr>
          <p:cNvPr id="11132" name="A3C1I0V"/>
          <p:cNvSpPr txBox="1"/>
          <p:nvPr/>
        </p:nvSpPr>
        <p:spPr>
          <a:xfrm>
            <a:off x="4199782" y="79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-13.0m</a:t>
            </a:r>
          </a:p>
        </p:txBody>
      </p:sp>
      <p:sp>
        <p:nvSpPr>
          <p:cNvPr id="11133" name="A3C1I1N"/>
          <p:cNvSpPr txBox="1"/>
          <p:nvPr/>
        </p:nvSpPr>
        <p:spPr>
          <a:xfrm>
            <a:off x="2789891" y="81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Wyeth Nutrition</a:t>
            </a:r>
          </a:p>
        </p:txBody>
      </p:sp>
      <p:sp>
        <p:nvSpPr>
          <p:cNvPr id="11134" name="A3C1I2N"/>
          <p:cNvSpPr txBox="1"/>
          <p:nvPr/>
        </p:nvSpPr>
        <p:spPr>
          <a:xfrm>
            <a:off x="2789891" y="83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Kimberly Clark</a:t>
            </a:r>
          </a:p>
        </p:txBody>
      </p:sp>
      <p:sp>
        <p:nvSpPr>
          <p:cNvPr id="11135" name="A3C1I3N"/>
          <p:cNvSpPr txBox="1"/>
          <p:nvPr/>
        </p:nvSpPr>
        <p:spPr>
          <a:xfrm>
            <a:off x="2789891" y="85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 Pictures</a:t>
            </a:r>
          </a:p>
        </p:txBody>
      </p:sp>
      <p:sp>
        <p:nvSpPr>
          <p:cNvPr id="11136" name="A3C1I4N"/>
          <p:cNvSpPr txBox="1"/>
          <p:nvPr/>
        </p:nvSpPr>
        <p:spPr>
          <a:xfrm>
            <a:off x="2789891" y="87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Resources Land</a:t>
            </a:r>
          </a:p>
        </p:txBody>
      </p:sp>
      <p:sp>
        <p:nvSpPr>
          <p:cNvPr id="11137" name="A3C1I5N"/>
          <p:cNvSpPr txBox="1"/>
          <p:nvPr/>
        </p:nvSpPr>
        <p:spPr>
          <a:xfrm>
            <a:off x="2789891" y="89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JEBSEN BEVERAGE</a:t>
            </a:r>
          </a:p>
        </p:txBody>
      </p:sp>
      <p:sp>
        <p:nvSpPr>
          <p:cNvPr id="11138" name="A3C2Bg"/>
          <p:cNvSpPr/>
          <p:nvPr/>
        </p:nvSpPr>
        <p:spPr>
          <a:xfrm>
            <a:off x="4959782" y="7528633"/>
            <a:ext cx="2159891" cy="2510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39" name="A3C2Lbl"/>
          <p:cNvSpPr txBox="1"/>
          <p:nvPr/>
        </p:nvSpPr>
        <p:spPr>
          <a:xfrm>
            <a:off x="5049782" y="76486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140" name="A3C2UL"/>
          <p:cNvSpPr/>
          <p:nvPr/>
        </p:nvSpPr>
        <p:spPr>
          <a:xfrm>
            <a:off x="5049782" y="7823633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41" name="A3C2I0N"/>
          <p:cNvSpPr txBox="1"/>
          <p:nvPr/>
        </p:nvSpPr>
        <p:spPr>
          <a:xfrm>
            <a:off x="5049782" y="79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Dairy Farm</a:t>
            </a:r>
          </a:p>
        </p:txBody>
      </p:sp>
      <p:sp>
        <p:nvSpPr>
          <p:cNvPr id="11142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  <p:sp>
        <p:nvSpPr>
          <p:cNvPr id="2" name="TrackerBg">
            <a:extLst>
              <a:ext uri="{FF2B5EF4-FFF2-40B4-BE49-F238E27FC236}">
                <a16:creationId xmlns:a16="http://schemas.microsoft.com/office/drawing/2014/main" id="{59816956-B676-CDE1-E7EF-F89FB701E1CB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>
            <a:extLst>
              <a:ext uri="{FF2B5EF4-FFF2-40B4-BE49-F238E27FC236}">
                <a16:creationId xmlns:a16="http://schemas.microsoft.com/office/drawing/2014/main" id="{8A13A2C7-736C-C881-BC77-ADAE399B4271}"/>
              </a:ext>
            </a:extLst>
          </p:cNvPr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>
            <a:extLst>
              <a:ext uri="{FF2B5EF4-FFF2-40B4-BE49-F238E27FC236}">
                <a16:creationId xmlns:a16="http://schemas.microsoft.com/office/drawing/2014/main" id="{4E96425F-A85B-A959-E648-01BC73C7A107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>
            <a:extLst>
              <a:ext uri="{FF2B5EF4-FFF2-40B4-BE49-F238E27FC236}">
                <a16:creationId xmlns:a16="http://schemas.microsoft.com/office/drawing/2014/main" id="{8AF154F9-AC4F-9ED5-D1F1-C14B5A18D982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>
            <a:extLst>
              <a:ext uri="{FF2B5EF4-FFF2-40B4-BE49-F238E27FC236}">
                <a16:creationId xmlns:a16="http://schemas.microsoft.com/office/drawing/2014/main" id="{AA884A60-9ADE-6B1B-936A-135536CC69FC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>
            <a:extLst>
              <a:ext uri="{FF2B5EF4-FFF2-40B4-BE49-F238E27FC236}">
                <a16:creationId xmlns:a16="http://schemas.microsoft.com/office/drawing/2014/main" id="{C747332B-C51D-B33E-B583-872C98A3B5B1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>
            <a:extLst>
              <a:ext uri="{FF2B5EF4-FFF2-40B4-BE49-F238E27FC236}">
                <a16:creationId xmlns:a16="http://schemas.microsoft.com/office/drawing/2014/main" id="{24CE847F-24C5-64BE-287C-8E7306D98391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>
            <a:extLst>
              <a:ext uri="{FF2B5EF4-FFF2-40B4-BE49-F238E27FC236}">
                <a16:creationId xmlns:a16="http://schemas.microsoft.com/office/drawing/2014/main" id="{A92BC42D-6FA6-938C-8808-5DAE627D9A20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>
            <a:extLst>
              <a:ext uri="{FF2B5EF4-FFF2-40B4-BE49-F238E27FC236}">
                <a16:creationId xmlns:a16="http://schemas.microsoft.com/office/drawing/2014/main" id="{62007AC7-1545-3C6E-3E0B-5D6B411310F4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>
            <a:extLst>
              <a:ext uri="{FF2B5EF4-FFF2-40B4-BE49-F238E27FC236}">
                <a16:creationId xmlns:a16="http://schemas.microsoft.com/office/drawing/2014/main" id="{3CDBA0B1-10A8-8B66-FE86-72ECE138B814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>
            <a:extLst>
              <a:ext uri="{FF2B5EF4-FFF2-40B4-BE49-F238E27FC236}">
                <a16:creationId xmlns:a16="http://schemas.microsoft.com/office/drawing/2014/main" id="{A12F85C7-140E-BFB9-9BAF-D58BF8888D5D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>
            <a:extLst>
              <a:ext uri="{FF2B5EF4-FFF2-40B4-BE49-F238E27FC236}">
                <a16:creationId xmlns:a16="http://schemas.microsoft.com/office/drawing/2014/main" id="{4E65C8F7-EADC-79BD-2AB6-9AFBD6FDC097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>
            <a:extLst>
              <a:ext uri="{FF2B5EF4-FFF2-40B4-BE49-F238E27FC236}">
                <a16:creationId xmlns:a16="http://schemas.microsoft.com/office/drawing/2014/main" id="{DA6ABE8E-7C8B-5F5C-CAD9-F1D51147189F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5" name="TLbl3">
            <a:extLst>
              <a:ext uri="{FF2B5EF4-FFF2-40B4-BE49-F238E27FC236}">
                <a16:creationId xmlns:a16="http://schemas.microsoft.com/office/drawing/2014/main" id="{5A1C5D08-5B56-BEA7-698F-BF3E6E5A28A0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>
            <a:extLst>
              <a:ext uri="{FF2B5EF4-FFF2-40B4-BE49-F238E27FC236}">
                <a16:creationId xmlns:a16="http://schemas.microsoft.com/office/drawing/2014/main" id="{5050DE49-EDB0-EAEA-C1CC-BA71CB8EA43C}"/>
              </a:ext>
            </a:extLst>
          </p:cNvPr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" name="TLbl4">
            <a:extLst>
              <a:ext uri="{FF2B5EF4-FFF2-40B4-BE49-F238E27FC236}">
                <a16:creationId xmlns:a16="http://schemas.microsoft.com/office/drawing/2014/main" id="{DE16D2F6-2596-2C9F-F5AB-1273A815AF4B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>
            <a:extLst>
              <a:ext uri="{FF2B5EF4-FFF2-40B4-BE49-F238E27FC236}">
                <a16:creationId xmlns:a16="http://schemas.microsoft.com/office/drawing/2014/main" id="{D01E5DCF-5E4A-3A80-89A7-7BF22198666C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>
            <a:extLst>
              <a:ext uri="{FF2B5EF4-FFF2-40B4-BE49-F238E27FC236}">
                <a16:creationId xmlns:a16="http://schemas.microsoft.com/office/drawing/2014/main" id="{DCC03DF8-5D8C-7380-00ED-7D5B2699BF6B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>
            <a:extLst>
              <a:ext uri="{FF2B5EF4-FFF2-40B4-BE49-F238E27FC236}">
                <a16:creationId xmlns:a16="http://schemas.microsoft.com/office/drawing/2014/main" id="{C1944AFA-1ED7-A201-74AC-2828D798BFD8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Line">
            <a:extLst>
              <a:ext uri="{FF2B5EF4-FFF2-40B4-BE49-F238E27FC236}">
                <a16:creationId xmlns:a16="http://schemas.microsoft.com/office/drawing/2014/main" id="{54574CF9-FBBE-6DF7-43F2-E39FF84827F8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Sep1">
            <a:extLst>
              <a:ext uri="{FF2B5EF4-FFF2-40B4-BE49-F238E27FC236}">
                <a16:creationId xmlns:a16="http://schemas.microsoft.com/office/drawing/2014/main" id="{8E22D700-E944-5E42-987C-67D98595FF64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2">
            <a:extLst>
              <a:ext uri="{FF2B5EF4-FFF2-40B4-BE49-F238E27FC236}">
                <a16:creationId xmlns:a16="http://schemas.microsoft.com/office/drawing/2014/main" id="{315078BB-2F4E-6A9E-6135-AF4289F85BB8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3">
            <a:extLst>
              <a:ext uri="{FF2B5EF4-FFF2-40B4-BE49-F238E27FC236}">
                <a16:creationId xmlns:a16="http://schemas.microsoft.com/office/drawing/2014/main" id="{9914AE0E-E8B8-B119-4315-67634D495F6A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Num0">
            <a:extLst>
              <a:ext uri="{FF2B5EF4-FFF2-40B4-BE49-F238E27FC236}">
                <a16:creationId xmlns:a16="http://schemas.microsoft.com/office/drawing/2014/main" id="{3E20C7D2-DBBA-22FD-15D5-F71988A6EB9B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6" name="TLbl0">
            <a:extLst>
              <a:ext uri="{FF2B5EF4-FFF2-40B4-BE49-F238E27FC236}">
                <a16:creationId xmlns:a16="http://schemas.microsoft.com/office/drawing/2014/main" id="{2AB9EF7E-68F1-3B88-5165-853F193C18C7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7" name="TNum1">
            <a:extLst>
              <a:ext uri="{FF2B5EF4-FFF2-40B4-BE49-F238E27FC236}">
                <a16:creationId xmlns:a16="http://schemas.microsoft.com/office/drawing/2014/main" id="{B0B7A71D-61C5-46B4-C8E5-A37ACD95DA47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8" name="TLbl1">
            <a:extLst>
              <a:ext uri="{FF2B5EF4-FFF2-40B4-BE49-F238E27FC236}">
                <a16:creationId xmlns:a16="http://schemas.microsoft.com/office/drawing/2014/main" id="{4E0385DF-D91D-AC9A-1C0C-DE10B1675DD1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9" name="TNum2">
            <a:extLst>
              <a:ext uri="{FF2B5EF4-FFF2-40B4-BE49-F238E27FC236}">
                <a16:creationId xmlns:a16="http://schemas.microsoft.com/office/drawing/2014/main" id="{0B9A1BE5-8F0D-D4C4-D674-EEEC4CFBDCFD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0" name="TLbl2">
            <a:extLst>
              <a:ext uri="{FF2B5EF4-FFF2-40B4-BE49-F238E27FC236}">
                <a16:creationId xmlns:a16="http://schemas.microsoft.com/office/drawing/2014/main" id="{D2BBA44C-CFCC-1B7B-2EA6-2B34D0A61D1D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1" name="TNum3">
            <a:extLst>
              <a:ext uri="{FF2B5EF4-FFF2-40B4-BE49-F238E27FC236}">
                <a16:creationId xmlns:a16="http://schemas.microsoft.com/office/drawing/2014/main" id="{C9CCD1FF-820C-34F8-EDCB-84796F785C29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32" name="TLbl3">
            <a:extLst>
              <a:ext uri="{FF2B5EF4-FFF2-40B4-BE49-F238E27FC236}">
                <a16:creationId xmlns:a16="http://schemas.microsoft.com/office/drawing/2014/main" id="{7CF1E425-994B-7F73-84C9-EA913C4155B9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35" name="TrackerActive">
            <a:extLst>
              <a:ext uri="{FF2B5EF4-FFF2-40B4-BE49-F238E27FC236}">
                <a16:creationId xmlns:a16="http://schemas.microsoft.com/office/drawing/2014/main" id="{D562A579-8078-44C2-A42C-048E15B1013C}"/>
              </a:ext>
            </a:extLst>
          </p:cNvPr>
          <p:cNvSpPr/>
          <p:nvPr/>
        </p:nvSpPr>
        <p:spPr>
          <a:xfrm>
            <a:off x="630031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5">
            <a:extLst>
              <a:ext uri="{FF2B5EF4-FFF2-40B4-BE49-F238E27FC236}">
                <a16:creationId xmlns:a16="http://schemas.microsoft.com/office/drawing/2014/main" id="{5643F941-F34D-A78B-1510-39991703A6C6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06</a:t>
            </a:r>
          </a:p>
        </p:txBody>
      </p:sp>
      <p:sp>
        <p:nvSpPr>
          <p:cNvPr id="37" name="TLbl5">
            <a:extLst>
              <a:ext uri="{FF2B5EF4-FFF2-40B4-BE49-F238E27FC236}">
                <a16:creationId xmlns:a16="http://schemas.microsoft.com/office/drawing/2014/main" id="{C080BD53-B529-7526-4E84-88A0395C75AC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Details</a:t>
            </a:r>
          </a:p>
        </p:txBody>
      </p:sp>
      <p:sp>
        <p:nvSpPr>
          <p:cNvPr id="38" name="TrackerSep3">
            <a:extLst>
              <a:ext uri="{FF2B5EF4-FFF2-40B4-BE49-F238E27FC236}">
                <a16:creationId xmlns:a16="http://schemas.microsoft.com/office/drawing/2014/main" id="{43929FF9-FBAC-1E7C-09C1-089CE6F200DA}"/>
              </a:ext>
            </a:extLst>
          </p:cNvPr>
          <p:cNvSpPr>
            <a:spLocks noGrp="1"/>
          </p:cNvSpPr>
          <p:nvPr/>
        </p:nvSpPr>
        <p:spPr>
          <a:xfrm rot="5400000">
            <a:off x="4996048" y="2994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Num4">
            <a:extLst>
              <a:ext uri="{FF2B5EF4-FFF2-40B4-BE49-F238E27FC236}">
                <a16:creationId xmlns:a16="http://schemas.microsoft.com/office/drawing/2014/main" id="{09BB6AB5-0EAA-8D29-6BD0-ED3FAF1B169B}"/>
              </a:ext>
            </a:extLst>
          </p:cNvPr>
          <p:cNvSpPr txBox="1"/>
          <p:nvPr/>
        </p:nvSpPr>
        <p:spPr>
          <a:xfrm>
            <a:off x="5049782" y="14583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05</a:t>
            </a:r>
          </a:p>
        </p:txBody>
      </p:sp>
      <p:sp>
        <p:nvSpPr>
          <p:cNvPr id="43" name="TLbl4">
            <a:extLst>
              <a:ext uri="{FF2B5EF4-FFF2-40B4-BE49-F238E27FC236}">
                <a16:creationId xmlns:a16="http://schemas.microsoft.com/office/drawing/2014/main" id="{EEBC1319-C9AD-4613-A3B0-2667B5E22393}"/>
              </a:ext>
            </a:extLst>
          </p:cNvPr>
          <p:cNvSpPr txBox="1"/>
          <p:nvPr/>
        </p:nvSpPr>
        <p:spPr>
          <a:xfrm>
            <a:off x="5079782" y="159583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Retentions</a:t>
            </a:r>
          </a:p>
        </p:txBody>
      </p:sp>
      <p:sp>
        <p:nvSpPr>
          <p:cNvPr id="45" name="Rectangle : coins arrondis 44">
            <a:hlinkClick r:id="rId3" action="ppaction://hlinksldjump"/>
            <a:extLst>
              <a:ext uri="{FF2B5EF4-FFF2-40B4-BE49-F238E27FC236}">
                <a16:creationId xmlns:a16="http://schemas.microsoft.com/office/drawing/2014/main" id="{F42D4B56-F8A6-D28B-8ED4-60BB1D9530D5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 : coins arrondis 45">
            <a:hlinkClick r:id="rId4" action="ppaction://hlinksldjump"/>
            <a:extLst>
              <a:ext uri="{FF2B5EF4-FFF2-40B4-BE49-F238E27FC236}">
                <a16:creationId xmlns:a16="http://schemas.microsoft.com/office/drawing/2014/main" id="{5A4903DC-E120-5BC8-37D5-C3EABEE12FBF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hlinkClick r:id="rId5" action="ppaction://hlinksldjump"/>
            <a:extLst>
              <a:ext uri="{FF2B5EF4-FFF2-40B4-BE49-F238E27FC236}">
                <a16:creationId xmlns:a16="http://schemas.microsoft.com/office/drawing/2014/main" id="{A68170B0-9249-B548-435A-8AEC68FB6776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 : coins arrondis 47">
            <a:hlinkClick r:id="rId6" action="ppaction://hlinksldjump"/>
            <a:extLst>
              <a:ext uri="{FF2B5EF4-FFF2-40B4-BE49-F238E27FC236}">
                <a16:creationId xmlns:a16="http://schemas.microsoft.com/office/drawing/2014/main" id="{AEF9792E-DB1D-2167-CA68-855112DE638D}"/>
              </a:ext>
            </a:extLst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hlinkClick r:id="rId2" action="ppaction://hlinksldjump"/>
            <a:extLst>
              <a:ext uri="{FF2B5EF4-FFF2-40B4-BE49-F238E27FC236}">
                <a16:creationId xmlns:a16="http://schemas.microsoft.com/office/drawing/2014/main" id="{71206D58-F527-F5B7-055B-3971DF335EAF}"/>
              </a:ext>
            </a:extLst>
          </p:cNvPr>
          <p:cNvSpPr/>
          <p:nvPr/>
        </p:nvSpPr>
        <p:spPr>
          <a:xfrm>
            <a:off x="5194897" y="45678"/>
            <a:ext cx="1019833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 : coins arrondis 40">
            <a:hlinkClick r:id="rId2" action="ppaction://hlinksldjump"/>
            <a:extLst>
              <a:ext uri="{FF2B5EF4-FFF2-40B4-BE49-F238E27FC236}">
                <a16:creationId xmlns:a16="http://schemas.microsoft.com/office/drawing/2014/main" id="{06D28A76-C83E-D52C-5922-2D41CB0C8926}"/>
              </a:ext>
            </a:extLst>
          </p:cNvPr>
          <p:cNvSpPr/>
          <p:nvPr/>
        </p:nvSpPr>
        <p:spPr>
          <a:xfrm>
            <a:off x="5284791" y="29583"/>
            <a:ext cx="966597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20" name="NAcc"/>
          <p:cNvSpPr/>
          <p:nvPr/>
        </p:nvSpPr>
        <p:spPr>
          <a:xfrm>
            <a:off x="0" y="367000"/>
            <a:ext cx="7559675" cy="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1" name="A0Bg"/>
          <p:cNvSpPr/>
          <p:nvPr/>
        </p:nvSpPr>
        <p:spPr>
          <a:xfrm>
            <a:off x="220000" y="470000"/>
            <a:ext cx="7119675" cy="186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22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3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spc="80" dirty="0">
                <a:solidFill>
                  <a:srgbClr val="FFFFFF"/>
                </a:solidFill>
                <a:latin typeface="Segoe UI"/>
              </a:rPr>
              <a:t>ESSENCEMEDIACOM</a:t>
            </a:r>
          </a:p>
        </p:txBody>
      </p:sp>
      <p:sp>
        <p:nvSpPr>
          <p:cNvPr id="16025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6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+4.0m$</a:t>
            </a:r>
          </a:p>
        </p:txBody>
      </p:sp>
      <p:sp>
        <p:nvSpPr>
          <p:cNvPr id="16027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8" name="A0C0Bg"/>
          <p:cNvSpPr/>
          <p:nvPr/>
        </p:nvSpPr>
        <p:spPr>
          <a:xfrm>
            <a:off x="440000" y="889000"/>
            <a:ext cx="2159891" cy="1286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29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030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1" name="A0C0I0N"/>
          <p:cNvSpPr txBox="1"/>
          <p:nvPr/>
        </p:nvSpPr>
        <p:spPr>
          <a:xfrm>
            <a:off x="530000" y="1304000"/>
            <a:ext cx="1399891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Webull Corporation</a:t>
            </a:r>
          </a:p>
        </p:txBody>
      </p:sp>
      <p:sp>
        <p:nvSpPr>
          <p:cNvPr id="16032" name="A0C0I0V"/>
          <p:cNvSpPr txBox="1"/>
          <p:nvPr/>
        </p:nvSpPr>
        <p:spPr>
          <a:xfrm>
            <a:off x="1939891" y="1304000"/>
            <a:ext cx="570000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+6.0m</a:t>
            </a:r>
          </a:p>
        </p:txBody>
      </p:sp>
      <p:sp>
        <p:nvSpPr>
          <p:cNvPr id="16033" name="A0C0I1N"/>
          <p:cNvSpPr txBox="1"/>
          <p:nvPr/>
        </p:nvSpPr>
        <p:spPr>
          <a:xfrm>
            <a:off x="530000" y="1499470"/>
            <a:ext cx="1979891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PUMA</a:t>
            </a:r>
          </a:p>
        </p:txBody>
      </p:sp>
      <p:sp>
        <p:nvSpPr>
          <p:cNvPr id="16034" name="A0C0I2N"/>
          <p:cNvSpPr txBox="1"/>
          <p:nvPr/>
        </p:nvSpPr>
        <p:spPr>
          <a:xfrm>
            <a:off x="530000" y="1694940"/>
            <a:ext cx="1979891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Sanofi</a:t>
            </a:r>
          </a:p>
        </p:txBody>
      </p:sp>
      <p:sp>
        <p:nvSpPr>
          <p:cNvPr id="16035" name="A0C0I3N"/>
          <p:cNvSpPr txBox="1"/>
          <p:nvPr/>
        </p:nvSpPr>
        <p:spPr>
          <a:xfrm>
            <a:off x="530000" y="1890410"/>
            <a:ext cx="1979891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Hutchison Hotels</a:t>
            </a:r>
          </a:p>
        </p:txBody>
      </p:sp>
      <p:sp>
        <p:nvSpPr>
          <p:cNvPr id="16036" name="A0C1Bg"/>
          <p:cNvSpPr/>
          <p:nvPr/>
        </p:nvSpPr>
        <p:spPr>
          <a:xfrm>
            <a:off x="2699891" y="889000"/>
            <a:ext cx="2159891" cy="1286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37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038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9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Mars</a:t>
            </a:r>
          </a:p>
        </p:txBody>
      </p:sp>
      <p:sp>
        <p:nvSpPr>
          <p:cNvPr id="16040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-4.0m</a:t>
            </a:r>
          </a:p>
        </p:txBody>
      </p:sp>
      <p:sp>
        <p:nvSpPr>
          <p:cNvPr id="16041" name="A0C2Bg"/>
          <p:cNvSpPr/>
          <p:nvPr/>
        </p:nvSpPr>
        <p:spPr>
          <a:xfrm>
            <a:off x="4959782" y="889000"/>
            <a:ext cx="2159891" cy="1286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42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043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4" name="A0C2E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45" name="A1Bg"/>
          <p:cNvSpPr/>
          <p:nvPr/>
        </p:nvSpPr>
        <p:spPr>
          <a:xfrm>
            <a:off x="220000" y="2435880"/>
            <a:ext cx="7119675" cy="15530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46" name="A1Hdr"/>
          <p:cNvSpPr/>
          <p:nvPr/>
        </p:nvSpPr>
        <p:spPr>
          <a:xfrm>
            <a:off x="220000" y="2435880"/>
            <a:ext cx="7119675" cy="29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7" name="A1Nm"/>
          <p:cNvSpPr txBox="1"/>
          <p:nvPr/>
        </p:nvSpPr>
        <p:spPr>
          <a:xfrm>
            <a:off x="440000" y="245588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IPROSPECT</a:t>
            </a:r>
          </a:p>
        </p:txBody>
      </p:sp>
      <p:sp>
        <p:nvSpPr>
          <p:cNvPr id="16049" name="A1BadgeBg"/>
          <p:cNvSpPr/>
          <p:nvPr/>
        </p:nvSpPr>
        <p:spPr>
          <a:xfrm>
            <a:off x="5919675" y="247088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50" name="A1BadgeTx"/>
          <p:cNvSpPr txBox="1"/>
          <p:nvPr/>
        </p:nvSpPr>
        <p:spPr>
          <a:xfrm>
            <a:off x="5919675" y="247088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+2.0m$</a:t>
            </a:r>
          </a:p>
        </p:txBody>
      </p:sp>
      <p:sp>
        <p:nvSpPr>
          <p:cNvPr id="16051" name="A1Sep"/>
          <p:cNvSpPr/>
          <p:nvPr/>
        </p:nvSpPr>
        <p:spPr>
          <a:xfrm>
            <a:off x="440000" y="272588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52" name="A1C0Bg"/>
          <p:cNvSpPr/>
          <p:nvPr/>
        </p:nvSpPr>
        <p:spPr>
          <a:xfrm>
            <a:off x="440000" y="2854880"/>
            <a:ext cx="2159891" cy="97404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53" name="A1C0Lbl"/>
          <p:cNvSpPr txBox="1"/>
          <p:nvPr/>
        </p:nvSpPr>
        <p:spPr>
          <a:xfrm>
            <a:off x="530000" y="297488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054" name="A1C0UL"/>
          <p:cNvSpPr/>
          <p:nvPr/>
        </p:nvSpPr>
        <p:spPr>
          <a:xfrm>
            <a:off x="530000" y="314988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55" name="A1C0I0N"/>
          <p:cNvSpPr txBox="1"/>
          <p:nvPr/>
        </p:nvSpPr>
        <p:spPr>
          <a:xfrm>
            <a:off x="530000" y="326988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Bob Bowen</a:t>
            </a:r>
          </a:p>
        </p:txBody>
      </p:sp>
      <p:sp>
        <p:nvSpPr>
          <p:cNvPr id="16056" name="A1C0I1N"/>
          <p:cNvSpPr txBox="1"/>
          <p:nvPr/>
        </p:nvSpPr>
        <p:spPr>
          <a:xfrm>
            <a:off x="530000" y="346988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HUTAMA</a:t>
            </a:r>
          </a:p>
        </p:txBody>
      </p:sp>
      <p:sp>
        <p:nvSpPr>
          <p:cNvPr id="16057" name="A1C1Bg"/>
          <p:cNvSpPr/>
          <p:nvPr/>
        </p:nvSpPr>
        <p:spPr>
          <a:xfrm>
            <a:off x="2699891" y="2854880"/>
            <a:ext cx="2159891" cy="97404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58" name="A1C1Lbl"/>
          <p:cNvSpPr txBox="1"/>
          <p:nvPr/>
        </p:nvSpPr>
        <p:spPr>
          <a:xfrm>
            <a:off x="2789891" y="297488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059" name="A1C1UL"/>
          <p:cNvSpPr/>
          <p:nvPr/>
        </p:nvSpPr>
        <p:spPr>
          <a:xfrm>
            <a:off x="2789891" y="314988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0" name="A1C1E"/>
          <p:cNvSpPr txBox="1"/>
          <p:nvPr/>
        </p:nvSpPr>
        <p:spPr>
          <a:xfrm>
            <a:off x="2789891" y="326988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61" name="A1C2Bg"/>
          <p:cNvSpPr/>
          <p:nvPr/>
        </p:nvSpPr>
        <p:spPr>
          <a:xfrm>
            <a:off x="4959782" y="2854880"/>
            <a:ext cx="2159891" cy="97404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62" name="A1C2Lbl"/>
          <p:cNvSpPr txBox="1"/>
          <p:nvPr/>
        </p:nvSpPr>
        <p:spPr>
          <a:xfrm>
            <a:off x="5049782" y="297488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063" name="A1C2UL"/>
          <p:cNvSpPr/>
          <p:nvPr/>
        </p:nvSpPr>
        <p:spPr>
          <a:xfrm>
            <a:off x="5049782" y="314988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4" name="A1C2E"/>
          <p:cNvSpPr txBox="1"/>
          <p:nvPr/>
        </p:nvSpPr>
        <p:spPr>
          <a:xfrm>
            <a:off x="5049782" y="326988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65" name="A2Bg"/>
          <p:cNvSpPr/>
          <p:nvPr/>
        </p:nvSpPr>
        <p:spPr>
          <a:xfrm>
            <a:off x="220000" y="4088929"/>
            <a:ext cx="7119675" cy="24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66" name="A2Hdr"/>
          <p:cNvSpPr/>
          <p:nvPr/>
        </p:nvSpPr>
        <p:spPr>
          <a:xfrm>
            <a:off x="220000" y="4088929"/>
            <a:ext cx="7119675" cy="290000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7" name="A2Nm"/>
          <p:cNvSpPr txBox="1"/>
          <p:nvPr/>
        </p:nvSpPr>
        <p:spPr>
          <a:xfrm>
            <a:off x="440000" y="410892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HAVAS MEDIA</a:t>
            </a:r>
          </a:p>
        </p:txBody>
      </p:sp>
      <p:sp>
        <p:nvSpPr>
          <p:cNvPr id="16069" name="A2BadgeBg"/>
          <p:cNvSpPr/>
          <p:nvPr/>
        </p:nvSpPr>
        <p:spPr>
          <a:xfrm>
            <a:off x="5919675" y="412392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70" name="A2BadgeTx"/>
          <p:cNvSpPr txBox="1"/>
          <p:nvPr/>
        </p:nvSpPr>
        <p:spPr>
          <a:xfrm>
            <a:off x="5919675" y="412392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94A3B8"/>
                </a:solidFill>
                <a:latin typeface="Segoe UI"/>
              </a:rPr>
              <a:t>$0m</a:t>
            </a:r>
          </a:p>
        </p:txBody>
      </p:sp>
      <p:sp>
        <p:nvSpPr>
          <p:cNvPr id="16071" name="A2Sep"/>
          <p:cNvSpPr/>
          <p:nvPr/>
        </p:nvSpPr>
        <p:spPr>
          <a:xfrm>
            <a:off x="440000" y="437892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72" name="A2C0Bg"/>
          <p:cNvSpPr/>
          <p:nvPr/>
        </p:nvSpPr>
        <p:spPr>
          <a:xfrm>
            <a:off x="440000" y="4507929"/>
            <a:ext cx="2159891" cy="19125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73" name="A2C0Lbl"/>
          <p:cNvSpPr txBox="1"/>
          <p:nvPr/>
        </p:nvSpPr>
        <p:spPr>
          <a:xfrm>
            <a:off x="530000" y="462792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074" name="A2C0UL"/>
          <p:cNvSpPr/>
          <p:nvPr/>
        </p:nvSpPr>
        <p:spPr>
          <a:xfrm>
            <a:off x="530000" y="480292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75" name="A2C0I0N"/>
          <p:cNvSpPr txBox="1"/>
          <p:nvPr/>
        </p:nvSpPr>
        <p:spPr>
          <a:xfrm>
            <a:off x="530000" y="49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ACTIVON SUZUKI</a:t>
            </a:r>
          </a:p>
        </p:txBody>
      </p:sp>
      <p:sp>
        <p:nvSpPr>
          <p:cNvPr id="16076" name="A2C0I1N"/>
          <p:cNvSpPr txBox="1"/>
          <p:nvPr/>
        </p:nvSpPr>
        <p:spPr>
          <a:xfrm>
            <a:off x="530000" y="51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DRUKAIR</a:t>
            </a:r>
          </a:p>
        </p:txBody>
      </p:sp>
      <p:sp>
        <p:nvSpPr>
          <p:cNvPr id="16077" name="A2C0I2N"/>
          <p:cNvSpPr txBox="1"/>
          <p:nvPr/>
        </p:nvSpPr>
        <p:spPr>
          <a:xfrm>
            <a:off x="530000" y="53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RECREATION</a:t>
            </a:r>
          </a:p>
        </p:txBody>
      </p:sp>
      <p:sp>
        <p:nvSpPr>
          <p:cNvPr id="16078" name="A2C0I3N"/>
          <p:cNvSpPr txBox="1"/>
          <p:nvPr/>
        </p:nvSpPr>
        <p:spPr>
          <a:xfrm>
            <a:off x="530000" y="55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 Golf Club Open</a:t>
            </a:r>
          </a:p>
        </p:txBody>
      </p:sp>
      <p:sp>
        <p:nvSpPr>
          <p:cNvPr id="16079" name="A2C0I4N"/>
          <p:cNvSpPr txBox="1"/>
          <p:nvPr/>
        </p:nvSpPr>
        <p:spPr>
          <a:xfrm>
            <a:off x="530000" y="57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Central Authority HK</a:t>
            </a:r>
          </a:p>
        </p:txBody>
      </p:sp>
      <p:sp>
        <p:nvSpPr>
          <p:cNvPr id="16080" name="A2C0I5N"/>
          <p:cNvSpPr txBox="1"/>
          <p:nvPr/>
        </p:nvSpPr>
        <p:spPr>
          <a:xfrm>
            <a:off x="530000" y="59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UNDER ARMOUR</a:t>
            </a:r>
          </a:p>
        </p:txBody>
      </p:sp>
      <p:sp>
        <p:nvSpPr>
          <p:cNvPr id="16081" name="A2C1Bg"/>
          <p:cNvSpPr/>
          <p:nvPr/>
        </p:nvSpPr>
        <p:spPr>
          <a:xfrm>
            <a:off x="2699891" y="4507929"/>
            <a:ext cx="2159891" cy="19125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82" name="A2C1Lbl"/>
          <p:cNvSpPr txBox="1"/>
          <p:nvPr/>
        </p:nvSpPr>
        <p:spPr>
          <a:xfrm>
            <a:off x="2789891" y="462792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083" name="A2C1UL"/>
          <p:cNvSpPr/>
          <p:nvPr/>
        </p:nvSpPr>
        <p:spPr>
          <a:xfrm>
            <a:off x="2789891" y="480292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84" name="A2C1I0N"/>
          <p:cNvSpPr txBox="1"/>
          <p:nvPr/>
        </p:nvSpPr>
        <p:spPr>
          <a:xfrm>
            <a:off x="2789891" y="4922929"/>
            <a:ext cx="139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 Life Assurance</a:t>
            </a:r>
          </a:p>
        </p:txBody>
      </p:sp>
      <p:sp>
        <p:nvSpPr>
          <p:cNvPr id="16085" name="A2C1I0V"/>
          <p:cNvSpPr txBox="1"/>
          <p:nvPr/>
        </p:nvSpPr>
        <p:spPr>
          <a:xfrm>
            <a:off x="4199782" y="4922929"/>
            <a:ext cx="570000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-8.0m</a:t>
            </a:r>
          </a:p>
        </p:txBody>
      </p:sp>
      <p:sp>
        <p:nvSpPr>
          <p:cNvPr id="16086" name="A2C1I1N"/>
          <p:cNvSpPr txBox="1"/>
          <p:nvPr/>
        </p:nvSpPr>
        <p:spPr>
          <a:xfrm>
            <a:off x="2789891" y="5098871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ACTIVON SUZUKI</a:t>
            </a:r>
          </a:p>
        </p:txBody>
      </p:sp>
      <p:sp>
        <p:nvSpPr>
          <p:cNvPr id="16087" name="A2C1I2N"/>
          <p:cNvSpPr txBox="1"/>
          <p:nvPr/>
        </p:nvSpPr>
        <p:spPr>
          <a:xfrm>
            <a:off x="2789891" y="5274813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KIMBERLY CLARK</a:t>
            </a:r>
          </a:p>
        </p:txBody>
      </p:sp>
      <p:sp>
        <p:nvSpPr>
          <p:cNvPr id="16088" name="A2C1I3N"/>
          <p:cNvSpPr txBox="1"/>
          <p:nvPr/>
        </p:nvSpPr>
        <p:spPr>
          <a:xfrm>
            <a:off x="2789891" y="5450755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 PICTURES</a:t>
            </a:r>
          </a:p>
        </p:txBody>
      </p:sp>
      <p:sp>
        <p:nvSpPr>
          <p:cNvPr id="16089" name="A2C1I4N"/>
          <p:cNvSpPr txBox="1"/>
          <p:nvPr/>
        </p:nvSpPr>
        <p:spPr>
          <a:xfrm>
            <a:off x="2789891" y="5626697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NAKAMURA</a:t>
            </a:r>
          </a:p>
        </p:txBody>
      </p:sp>
      <p:sp>
        <p:nvSpPr>
          <p:cNvPr id="16090" name="A2C1I5N"/>
          <p:cNvSpPr txBox="1"/>
          <p:nvPr/>
        </p:nvSpPr>
        <p:spPr>
          <a:xfrm>
            <a:off x="2789891" y="5802639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JEBSEN BEVERAGE</a:t>
            </a:r>
          </a:p>
        </p:txBody>
      </p:sp>
      <p:sp>
        <p:nvSpPr>
          <p:cNvPr id="16091" name="A2C1I6N"/>
          <p:cNvSpPr txBox="1"/>
          <p:nvPr/>
        </p:nvSpPr>
        <p:spPr>
          <a:xfrm>
            <a:off x="2789891" y="5978581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OH Nails</a:t>
            </a:r>
          </a:p>
        </p:txBody>
      </p:sp>
      <p:sp>
        <p:nvSpPr>
          <p:cNvPr id="16092" name="A2C1I7N"/>
          <p:cNvSpPr txBox="1"/>
          <p:nvPr/>
        </p:nvSpPr>
        <p:spPr>
          <a:xfrm>
            <a:off x="2789891" y="6154523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SUNFARM HOLIDAY</a:t>
            </a:r>
          </a:p>
        </p:txBody>
      </p:sp>
      <p:sp>
        <p:nvSpPr>
          <p:cNvPr id="16093" name="A2C2Bg"/>
          <p:cNvSpPr/>
          <p:nvPr/>
        </p:nvSpPr>
        <p:spPr>
          <a:xfrm>
            <a:off x="4959782" y="4507929"/>
            <a:ext cx="2159891" cy="19125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94" name="A2C2Lbl"/>
          <p:cNvSpPr txBox="1"/>
          <p:nvPr/>
        </p:nvSpPr>
        <p:spPr>
          <a:xfrm>
            <a:off x="5049782" y="462792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095" name="A2C2UL"/>
          <p:cNvSpPr/>
          <p:nvPr/>
        </p:nvSpPr>
        <p:spPr>
          <a:xfrm>
            <a:off x="5049782" y="480292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96" name="A2C2I0N"/>
          <p:cNvSpPr txBox="1"/>
          <p:nvPr/>
        </p:nvSpPr>
        <p:spPr>
          <a:xfrm>
            <a:off x="5049782" y="49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 Life Assurance</a:t>
            </a:r>
          </a:p>
        </p:txBody>
      </p:sp>
      <p:sp>
        <p:nvSpPr>
          <p:cNvPr id="16097" name="A2C2I1N"/>
          <p:cNvSpPr txBox="1"/>
          <p:nvPr/>
        </p:nvSpPr>
        <p:spPr>
          <a:xfrm>
            <a:off x="5049782" y="51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KAO</a:t>
            </a:r>
          </a:p>
        </p:txBody>
      </p:sp>
      <p:sp>
        <p:nvSpPr>
          <p:cNvPr id="16098" name="A3Bg"/>
          <p:cNvSpPr/>
          <p:nvPr/>
        </p:nvSpPr>
        <p:spPr>
          <a:xfrm>
            <a:off x="220000" y="6680469"/>
            <a:ext cx="7119675" cy="1709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99" name="A3Hdr"/>
          <p:cNvSpPr/>
          <p:nvPr/>
        </p:nvSpPr>
        <p:spPr>
          <a:xfrm>
            <a:off x="220000" y="6680469"/>
            <a:ext cx="7119675" cy="29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0" name="A3Nm"/>
          <p:cNvSpPr txBox="1"/>
          <p:nvPr/>
        </p:nvSpPr>
        <p:spPr>
          <a:xfrm>
            <a:off x="440000" y="670046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CARAT</a:t>
            </a:r>
          </a:p>
        </p:txBody>
      </p:sp>
      <p:sp>
        <p:nvSpPr>
          <p:cNvPr id="16102" name="A3BadgeBg"/>
          <p:cNvSpPr/>
          <p:nvPr/>
        </p:nvSpPr>
        <p:spPr>
          <a:xfrm>
            <a:off x="5919675" y="671546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3" name="A3BadgeTx"/>
          <p:cNvSpPr txBox="1"/>
          <p:nvPr/>
        </p:nvSpPr>
        <p:spPr>
          <a:xfrm>
            <a:off x="5919675" y="671546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-8.0m$</a:t>
            </a:r>
          </a:p>
        </p:txBody>
      </p:sp>
      <p:sp>
        <p:nvSpPr>
          <p:cNvPr id="16104" name="A3Sep"/>
          <p:cNvSpPr/>
          <p:nvPr/>
        </p:nvSpPr>
        <p:spPr>
          <a:xfrm>
            <a:off x="440000" y="697046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5" name="A3C0Bg"/>
          <p:cNvSpPr/>
          <p:nvPr/>
        </p:nvSpPr>
        <p:spPr>
          <a:xfrm>
            <a:off x="440000" y="7099469"/>
            <a:ext cx="2159891" cy="113046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06" name="A3C0Lbl"/>
          <p:cNvSpPr txBox="1"/>
          <p:nvPr/>
        </p:nvSpPr>
        <p:spPr>
          <a:xfrm>
            <a:off x="530000" y="721946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107" name="A3C0UL"/>
          <p:cNvSpPr/>
          <p:nvPr/>
        </p:nvSpPr>
        <p:spPr>
          <a:xfrm>
            <a:off x="530000" y="739446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8" name="A3C0I0N"/>
          <p:cNvSpPr txBox="1"/>
          <p:nvPr/>
        </p:nvSpPr>
        <p:spPr>
          <a:xfrm>
            <a:off x="530000" y="751446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Vitasoy</a:t>
            </a:r>
          </a:p>
        </p:txBody>
      </p:sp>
      <p:sp>
        <p:nvSpPr>
          <p:cNvPr id="16109" name="A3C0I0V"/>
          <p:cNvSpPr txBox="1"/>
          <p:nvPr/>
        </p:nvSpPr>
        <p:spPr>
          <a:xfrm>
            <a:off x="1939891" y="751446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+9.0m</a:t>
            </a:r>
          </a:p>
        </p:txBody>
      </p:sp>
      <p:sp>
        <p:nvSpPr>
          <p:cNvPr id="16110" name="A3C1Bg"/>
          <p:cNvSpPr/>
          <p:nvPr/>
        </p:nvSpPr>
        <p:spPr>
          <a:xfrm>
            <a:off x="2699891" y="7099469"/>
            <a:ext cx="2159891" cy="113046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11" name="A3C1Lbl"/>
          <p:cNvSpPr txBox="1"/>
          <p:nvPr/>
        </p:nvSpPr>
        <p:spPr>
          <a:xfrm>
            <a:off x="2789891" y="721946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112" name="A3C1UL"/>
          <p:cNvSpPr/>
          <p:nvPr/>
        </p:nvSpPr>
        <p:spPr>
          <a:xfrm>
            <a:off x="2789891" y="739446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13" name="A3C1I0N"/>
          <p:cNvSpPr txBox="1"/>
          <p:nvPr/>
        </p:nvSpPr>
        <p:spPr>
          <a:xfrm>
            <a:off x="2789891" y="751446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AS Watson</a:t>
            </a:r>
          </a:p>
        </p:txBody>
      </p:sp>
      <p:sp>
        <p:nvSpPr>
          <p:cNvPr id="16114" name="A3C1I0V"/>
          <p:cNvSpPr txBox="1"/>
          <p:nvPr/>
        </p:nvSpPr>
        <p:spPr>
          <a:xfrm>
            <a:off x="4199782" y="751446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-14.0m</a:t>
            </a:r>
          </a:p>
        </p:txBody>
      </p:sp>
      <p:sp>
        <p:nvSpPr>
          <p:cNvPr id="16115" name="A3C1I1N"/>
          <p:cNvSpPr txBox="1"/>
          <p:nvPr/>
        </p:nvSpPr>
        <p:spPr>
          <a:xfrm>
            <a:off x="2789891" y="771446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MASTIKAAR</a:t>
            </a:r>
          </a:p>
        </p:txBody>
      </p:sp>
      <p:sp>
        <p:nvSpPr>
          <p:cNvPr id="16116" name="A3C1I2N"/>
          <p:cNvSpPr txBox="1"/>
          <p:nvPr/>
        </p:nvSpPr>
        <p:spPr>
          <a:xfrm>
            <a:off x="2789891" y="791446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THE GARDEN CO</a:t>
            </a:r>
          </a:p>
        </p:txBody>
      </p:sp>
      <p:sp>
        <p:nvSpPr>
          <p:cNvPr id="16117" name="A3C2Bg"/>
          <p:cNvSpPr/>
          <p:nvPr/>
        </p:nvSpPr>
        <p:spPr>
          <a:xfrm>
            <a:off x="4959782" y="7099469"/>
            <a:ext cx="2159891" cy="113046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18" name="A3C2Lbl"/>
          <p:cNvSpPr txBox="1"/>
          <p:nvPr/>
        </p:nvSpPr>
        <p:spPr>
          <a:xfrm>
            <a:off x="5049782" y="721946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119" name="A3C2UL"/>
          <p:cNvSpPr/>
          <p:nvPr/>
        </p:nvSpPr>
        <p:spPr>
          <a:xfrm>
            <a:off x="5049782" y="739446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0" name="A3C2I0N"/>
          <p:cNvSpPr txBox="1"/>
          <p:nvPr/>
        </p:nvSpPr>
        <p:spPr>
          <a:xfrm>
            <a:off x="5049782" y="751446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Vitasoy</a:t>
            </a:r>
          </a:p>
        </p:txBody>
      </p:sp>
      <p:sp>
        <p:nvSpPr>
          <p:cNvPr id="16121" name="A3C2I1N"/>
          <p:cNvSpPr txBox="1"/>
          <p:nvPr/>
        </p:nvSpPr>
        <p:spPr>
          <a:xfrm>
            <a:off x="5049782" y="771446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Pandora</a:t>
            </a:r>
          </a:p>
        </p:txBody>
      </p:sp>
      <p:sp>
        <p:nvSpPr>
          <p:cNvPr id="16122" name="A4Bg"/>
          <p:cNvSpPr/>
          <p:nvPr/>
        </p:nvSpPr>
        <p:spPr>
          <a:xfrm>
            <a:off x="220000" y="8489933"/>
            <a:ext cx="7119675" cy="17094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123" name="A4Hdr"/>
          <p:cNvSpPr/>
          <p:nvPr/>
        </p:nvSpPr>
        <p:spPr>
          <a:xfrm>
            <a:off x="220000" y="8489933"/>
            <a:ext cx="7119675" cy="29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4" name="A4Nm"/>
          <p:cNvSpPr txBox="1"/>
          <p:nvPr/>
        </p:nvSpPr>
        <p:spPr>
          <a:xfrm>
            <a:off x="440000" y="8509933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WAVEMAKER</a:t>
            </a:r>
          </a:p>
        </p:txBody>
      </p:sp>
      <p:sp>
        <p:nvSpPr>
          <p:cNvPr id="16126" name="A4BadgeBg"/>
          <p:cNvSpPr/>
          <p:nvPr/>
        </p:nvSpPr>
        <p:spPr>
          <a:xfrm>
            <a:off x="5919675" y="8524933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7" name="A4BadgeTx"/>
          <p:cNvSpPr txBox="1"/>
          <p:nvPr/>
        </p:nvSpPr>
        <p:spPr>
          <a:xfrm>
            <a:off x="5919675" y="8524933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-8.0m$</a:t>
            </a:r>
          </a:p>
        </p:txBody>
      </p:sp>
      <p:sp>
        <p:nvSpPr>
          <p:cNvPr id="16128" name="A4Sep"/>
          <p:cNvSpPr/>
          <p:nvPr/>
        </p:nvSpPr>
        <p:spPr>
          <a:xfrm>
            <a:off x="440000" y="8779933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9" name="A4C0Bg"/>
          <p:cNvSpPr/>
          <p:nvPr/>
        </p:nvSpPr>
        <p:spPr>
          <a:xfrm>
            <a:off x="440000" y="8908933"/>
            <a:ext cx="2159891" cy="11304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30" name="A4C0Lbl"/>
          <p:cNvSpPr txBox="1"/>
          <p:nvPr/>
        </p:nvSpPr>
        <p:spPr>
          <a:xfrm>
            <a:off x="530000" y="90289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131" name="A4C0UL"/>
          <p:cNvSpPr/>
          <p:nvPr/>
        </p:nvSpPr>
        <p:spPr>
          <a:xfrm>
            <a:off x="530000" y="9203933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32" name="A4C0I0N"/>
          <p:cNvSpPr txBox="1"/>
          <p:nvPr/>
        </p:nvSpPr>
        <p:spPr>
          <a:xfrm>
            <a:off x="530000" y="93239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 Life Assurance</a:t>
            </a:r>
          </a:p>
        </p:txBody>
      </p:sp>
      <p:sp>
        <p:nvSpPr>
          <p:cNvPr id="16133" name="A4C0I0V"/>
          <p:cNvSpPr txBox="1"/>
          <p:nvPr/>
        </p:nvSpPr>
        <p:spPr>
          <a:xfrm>
            <a:off x="1939891" y="93239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+8.0m</a:t>
            </a:r>
          </a:p>
        </p:txBody>
      </p:sp>
      <p:sp>
        <p:nvSpPr>
          <p:cNvPr id="16134" name="A4C1Bg"/>
          <p:cNvSpPr/>
          <p:nvPr/>
        </p:nvSpPr>
        <p:spPr>
          <a:xfrm>
            <a:off x="2699891" y="8908933"/>
            <a:ext cx="2159891" cy="11304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35" name="A4C1Lbl"/>
          <p:cNvSpPr txBox="1"/>
          <p:nvPr/>
        </p:nvSpPr>
        <p:spPr>
          <a:xfrm>
            <a:off x="2789891" y="90289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136" name="A4C1UL"/>
          <p:cNvSpPr/>
          <p:nvPr/>
        </p:nvSpPr>
        <p:spPr>
          <a:xfrm>
            <a:off x="2789891" y="9203933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37" name="A4C1I0N"/>
          <p:cNvSpPr txBox="1"/>
          <p:nvPr/>
        </p:nvSpPr>
        <p:spPr>
          <a:xfrm>
            <a:off x="2789891" y="93239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Jebsen Beverages</a:t>
            </a:r>
          </a:p>
        </p:txBody>
      </p:sp>
      <p:sp>
        <p:nvSpPr>
          <p:cNvPr id="16138" name="A4C1I0V"/>
          <p:cNvSpPr txBox="1"/>
          <p:nvPr/>
        </p:nvSpPr>
        <p:spPr>
          <a:xfrm>
            <a:off x="4199782" y="93239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-8.0m</a:t>
            </a:r>
          </a:p>
        </p:txBody>
      </p:sp>
      <p:sp>
        <p:nvSpPr>
          <p:cNvPr id="16139" name="A4C1I1N"/>
          <p:cNvSpPr txBox="1"/>
          <p:nvPr/>
        </p:nvSpPr>
        <p:spPr>
          <a:xfrm>
            <a:off x="2789891" y="95239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Kimberly Clark</a:t>
            </a:r>
          </a:p>
        </p:txBody>
      </p:sp>
      <p:sp>
        <p:nvSpPr>
          <p:cNvPr id="16140" name="A4C1I1V"/>
          <p:cNvSpPr txBox="1"/>
          <p:nvPr/>
        </p:nvSpPr>
        <p:spPr>
          <a:xfrm>
            <a:off x="4199782" y="95239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-4.0m</a:t>
            </a:r>
          </a:p>
        </p:txBody>
      </p:sp>
      <p:sp>
        <p:nvSpPr>
          <p:cNvPr id="16141" name="A4C1I2N"/>
          <p:cNvSpPr txBox="1"/>
          <p:nvPr/>
        </p:nvSpPr>
        <p:spPr>
          <a:xfrm>
            <a:off x="2789891" y="97239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 Pictures</a:t>
            </a:r>
          </a:p>
        </p:txBody>
      </p:sp>
      <p:sp>
        <p:nvSpPr>
          <p:cNvPr id="16142" name="A4C1I2V"/>
          <p:cNvSpPr txBox="1"/>
          <p:nvPr/>
        </p:nvSpPr>
        <p:spPr>
          <a:xfrm>
            <a:off x="4199782" y="97239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-4.0m</a:t>
            </a:r>
          </a:p>
        </p:txBody>
      </p:sp>
      <p:sp>
        <p:nvSpPr>
          <p:cNvPr id="16143" name="A4C2Bg"/>
          <p:cNvSpPr/>
          <p:nvPr/>
        </p:nvSpPr>
        <p:spPr>
          <a:xfrm>
            <a:off x="4959782" y="8908933"/>
            <a:ext cx="2159891" cy="11304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44" name="A4C2Lbl"/>
          <p:cNvSpPr txBox="1"/>
          <p:nvPr/>
        </p:nvSpPr>
        <p:spPr>
          <a:xfrm>
            <a:off x="5049782" y="90289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145" name="A4C2UL"/>
          <p:cNvSpPr/>
          <p:nvPr/>
        </p:nvSpPr>
        <p:spPr>
          <a:xfrm>
            <a:off x="5049782" y="9203933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46" name="A4C2E"/>
          <p:cNvSpPr txBox="1"/>
          <p:nvPr/>
        </p:nvSpPr>
        <p:spPr>
          <a:xfrm>
            <a:off x="5049782" y="93239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147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  <p:sp>
        <p:nvSpPr>
          <p:cNvPr id="2" name="TrackerBg">
            <a:extLst>
              <a:ext uri="{FF2B5EF4-FFF2-40B4-BE49-F238E27FC236}">
                <a16:creationId xmlns:a16="http://schemas.microsoft.com/office/drawing/2014/main" id="{C125F98F-DA9A-F321-E1A7-EABDFE6FB468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>
            <a:extLst>
              <a:ext uri="{FF2B5EF4-FFF2-40B4-BE49-F238E27FC236}">
                <a16:creationId xmlns:a16="http://schemas.microsoft.com/office/drawing/2014/main" id="{933A3BEF-F9D9-40DB-D834-A2DD5DA477CF}"/>
              </a:ext>
            </a:extLst>
          </p:cNvPr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>
            <a:extLst>
              <a:ext uri="{FF2B5EF4-FFF2-40B4-BE49-F238E27FC236}">
                <a16:creationId xmlns:a16="http://schemas.microsoft.com/office/drawing/2014/main" id="{A944A26F-A0EC-73EF-BE06-517758F134D7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>
            <a:extLst>
              <a:ext uri="{FF2B5EF4-FFF2-40B4-BE49-F238E27FC236}">
                <a16:creationId xmlns:a16="http://schemas.microsoft.com/office/drawing/2014/main" id="{C429D01D-9045-80B5-65FA-5C5C21BDF3F0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>
            <a:extLst>
              <a:ext uri="{FF2B5EF4-FFF2-40B4-BE49-F238E27FC236}">
                <a16:creationId xmlns:a16="http://schemas.microsoft.com/office/drawing/2014/main" id="{A852048C-10D6-DB0D-DEC8-4808E86C5EB6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>
            <a:extLst>
              <a:ext uri="{FF2B5EF4-FFF2-40B4-BE49-F238E27FC236}">
                <a16:creationId xmlns:a16="http://schemas.microsoft.com/office/drawing/2014/main" id="{1C6A430E-EB1F-9921-72B3-A7DB224BF59D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>
            <a:extLst>
              <a:ext uri="{FF2B5EF4-FFF2-40B4-BE49-F238E27FC236}">
                <a16:creationId xmlns:a16="http://schemas.microsoft.com/office/drawing/2014/main" id="{D0541EF9-A345-9767-00D0-652F8ABDAE2A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>
            <a:extLst>
              <a:ext uri="{FF2B5EF4-FFF2-40B4-BE49-F238E27FC236}">
                <a16:creationId xmlns:a16="http://schemas.microsoft.com/office/drawing/2014/main" id="{55806F84-5E3E-37C4-4578-C59CE68C09C4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>
            <a:extLst>
              <a:ext uri="{FF2B5EF4-FFF2-40B4-BE49-F238E27FC236}">
                <a16:creationId xmlns:a16="http://schemas.microsoft.com/office/drawing/2014/main" id="{70B399AC-1E09-31DD-9163-FDF576D2822C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>
            <a:extLst>
              <a:ext uri="{FF2B5EF4-FFF2-40B4-BE49-F238E27FC236}">
                <a16:creationId xmlns:a16="http://schemas.microsoft.com/office/drawing/2014/main" id="{D75EDB2A-36C8-2C0E-1661-EAB825D9C598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>
            <a:extLst>
              <a:ext uri="{FF2B5EF4-FFF2-40B4-BE49-F238E27FC236}">
                <a16:creationId xmlns:a16="http://schemas.microsoft.com/office/drawing/2014/main" id="{C5D7D626-81AB-D255-CF86-004E8239970A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>
            <a:extLst>
              <a:ext uri="{FF2B5EF4-FFF2-40B4-BE49-F238E27FC236}">
                <a16:creationId xmlns:a16="http://schemas.microsoft.com/office/drawing/2014/main" id="{D7F1E418-DF9D-570A-D1CE-B47BC6351C83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>
            <a:extLst>
              <a:ext uri="{FF2B5EF4-FFF2-40B4-BE49-F238E27FC236}">
                <a16:creationId xmlns:a16="http://schemas.microsoft.com/office/drawing/2014/main" id="{C77AE87A-CB15-E41D-E477-850357A38E63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5" name="TLbl3">
            <a:extLst>
              <a:ext uri="{FF2B5EF4-FFF2-40B4-BE49-F238E27FC236}">
                <a16:creationId xmlns:a16="http://schemas.microsoft.com/office/drawing/2014/main" id="{C761BD77-2FD6-89E9-2F59-51E25B922E7E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>
            <a:extLst>
              <a:ext uri="{FF2B5EF4-FFF2-40B4-BE49-F238E27FC236}">
                <a16:creationId xmlns:a16="http://schemas.microsoft.com/office/drawing/2014/main" id="{6E471915-701A-78A6-AEE5-8B1A1B787D19}"/>
              </a:ext>
            </a:extLst>
          </p:cNvPr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" name="TLbl4">
            <a:extLst>
              <a:ext uri="{FF2B5EF4-FFF2-40B4-BE49-F238E27FC236}">
                <a16:creationId xmlns:a16="http://schemas.microsoft.com/office/drawing/2014/main" id="{1DE08B70-BD4B-B8E9-D63D-009521AE1CA3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>
            <a:extLst>
              <a:ext uri="{FF2B5EF4-FFF2-40B4-BE49-F238E27FC236}">
                <a16:creationId xmlns:a16="http://schemas.microsoft.com/office/drawing/2014/main" id="{CA0CE811-22A4-CA3B-2A4D-F9CE5A1FAFAA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>
            <a:extLst>
              <a:ext uri="{FF2B5EF4-FFF2-40B4-BE49-F238E27FC236}">
                <a16:creationId xmlns:a16="http://schemas.microsoft.com/office/drawing/2014/main" id="{6DD70C2D-E297-B100-ACD7-55D81C32F837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>
            <a:extLst>
              <a:ext uri="{FF2B5EF4-FFF2-40B4-BE49-F238E27FC236}">
                <a16:creationId xmlns:a16="http://schemas.microsoft.com/office/drawing/2014/main" id="{6AEA48CF-6045-53D3-BD0C-8EA664255230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Line">
            <a:extLst>
              <a:ext uri="{FF2B5EF4-FFF2-40B4-BE49-F238E27FC236}">
                <a16:creationId xmlns:a16="http://schemas.microsoft.com/office/drawing/2014/main" id="{C33A20F6-F03B-F3A3-C5A3-87B11845C3DD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Sep1">
            <a:extLst>
              <a:ext uri="{FF2B5EF4-FFF2-40B4-BE49-F238E27FC236}">
                <a16:creationId xmlns:a16="http://schemas.microsoft.com/office/drawing/2014/main" id="{EC116876-2248-03DE-778E-830D9AE7047E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2">
            <a:extLst>
              <a:ext uri="{FF2B5EF4-FFF2-40B4-BE49-F238E27FC236}">
                <a16:creationId xmlns:a16="http://schemas.microsoft.com/office/drawing/2014/main" id="{464717DE-3BCD-D5E5-9BA3-CAD6878961D5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3">
            <a:extLst>
              <a:ext uri="{FF2B5EF4-FFF2-40B4-BE49-F238E27FC236}">
                <a16:creationId xmlns:a16="http://schemas.microsoft.com/office/drawing/2014/main" id="{B60237C2-96DF-3FA2-90DA-8D171F2A5705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Num0">
            <a:extLst>
              <a:ext uri="{FF2B5EF4-FFF2-40B4-BE49-F238E27FC236}">
                <a16:creationId xmlns:a16="http://schemas.microsoft.com/office/drawing/2014/main" id="{5D5F4A6E-7D4D-5230-B66C-A3D59D38A51B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6" name="TLbl0">
            <a:extLst>
              <a:ext uri="{FF2B5EF4-FFF2-40B4-BE49-F238E27FC236}">
                <a16:creationId xmlns:a16="http://schemas.microsoft.com/office/drawing/2014/main" id="{8CD5D4E3-428C-01CE-7C22-22ABB1CF8962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7" name="TNum1">
            <a:extLst>
              <a:ext uri="{FF2B5EF4-FFF2-40B4-BE49-F238E27FC236}">
                <a16:creationId xmlns:a16="http://schemas.microsoft.com/office/drawing/2014/main" id="{29A8727E-9BF0-2C38-E7BD-48666D7B0788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8" name="TLbl1">
            <a:extLst>
              <a:ext uri="{FF2B5EF4-FFF2-40B4-BE49-F238E27FC236}">
                <a16:creationId xmlns:a16="http://schemas.microsoft.com/office/drawing/2014/main" id="{7DCEB94D-FB44-650B-0051-6115B0E89DF6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9" name="TNum2">
            <a:extLst>
              <a:ext uri="{FF2B5EF4-FFF2-40B4-BE49-F238E27FC236}">
                <a16:creationId xmlns:a16="http://schemas.microsoft.com/office/drawing/2014/main" id="{2556EF33-EDA2-F4D2-B7A4-652FCC8499F8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0" name="TLbl2">
            <a:extLst>
              <a:ext uri="{FF2B5EF4-FFF2-40B4-BE49-F238E27FC236}">
                <a16:creationId xmlns:a16="http://schemas.microsoft.com/office/drawing/2014/main" id="{F1D01650-C728-9C7C-E333-53682A0C241D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1" name="TNum3">
            <a:extLst>
              <a:ext uri="{FF2B5EF4-FFF2-40B4-BE49-F238E27FC236}">
                <a16:creationId xmlns:a16="http://schemas.microsoft.com/office/drawing/2014/main" id="{91A4691C-06DC-97C5-B6C9-56CC34EBBCCA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32" name="TLbl3">
            <a:extLst>
              <a:ext uri="{FF2B5EF4-FFF2-40B4-BE49-F238E27FC236}">
                <a16:creationId xmlns:a16="http://schemas.microsoft.com/office/drawing/2014/main" id="{04FCCB1F-0F08-80B1-9AF4-D4382710D92C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34" name="TLbl4">
            <a:extLst>
              <a:ext uri="{FF2B5EF4-FFF2-40B4-BE49-F238E27FC236}">
                <a16:creationId xmlns:a16="http://schemas.microsoft.com/office/drawing/2014/main" id="{8C98A5C6-8121-1B7E-7460-2E4F4E5C9427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Retentions</a:t>
            </a:r>
          </a:p>
        </p:txBody>
      </p:sp>
      <p:sp>
        <p:nvSpPr>
          <p:cNvPr id="35" name="TrackerActive">
            <a:extLst>
              <a:ext uri="{FF2B5EF4-FFF2-40B4-BE49-F238E27FC236}">
                <a16:creationId xmlns:a16="http://schemas.microsoft.com/office/drawing/2014/main" id="{5A252E24-4C7F-083C-B39D-78594BF041B6}"/>
              </a:ext>
            </a:extLst>
          </p:cNvPr>
          <p:cNvSpPr/>
          <p:nvPr/>
        </p:nvSpPr>
        <p:spPr>
          <a:xfrm>
            <a:off x="630031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5">
            <a:extLst>
              <a:ext uri="{FF2B5EF4-FFF2-40B4-BE49-F238E27FC236}">
                <a16:creationId xmlns:a16="http://schemas.microsoft.com/office/drawing/2014/main" id="{87A78780-D754-FC93-F24A-128FD2024D29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06</a:t>
            </a:r>
          </a:p>
        </p:txBody>
      </p:sp>
      <p:sp>
        <p:nvSpPr>
          <p:cNvPr id="37" name="TLbl5">
            <a:extLst>
              <a:ext uri="{FF2B5EF4-FFF2-40B4-BE49-F238E27FC236}">
                <a16:creationId xmlns:a16="http://schemas.microsoft.com/office/drawing/2014/main" id="{78EB12D3-D667-854C-1CCF-BB870832080E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Details</a:t>
            </a:r>
          </a:p>
        </p:txBody>
      </p:sp>
      <p:sp>
        <p:nvSpPr>
          <p:cNvPr id="38" name="TrackerSep3">
            <a:extLst>
              <a:ext uri="{FF2B5EF4-FFF2-40B4-BE49-F238E27FC236}">
                <a16:creationId xmlns:a16="http://schemas.microsoft.com/office/drawing/2014/main" id="{84D2104E-4399-8279-DB48-E8AF415738DE}"/>
              </a:ext>
            </a:extLst>
          </p:cNvPr>
          <p:cNvSpPr>
            <a:spLocks noGrp="1"/>
          </p:cNvSpPr>
          <p:nvPr/>
        </p:nvSpPr>
        <p:spPr>
          <a:xfrm rot="5400000">
            <a:off x="4996048" y="2994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Rectangle : coins arrondis 38">
            <a:hlinkClick r:id="rId3" action="ppaction://hlinksldjump"/>
            <a:extLst>
              <a:ext uri="{FF2B5EF4-FFF2-40B4-BE49-F238E27FC236}">
                <a16:creationId xmlns:a16="http://schemas.microsoft.com/office/drawing/2014/main" id="{0F2665A7-4D8F-A911-86BB-BA370A45E103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 : coins arrondis 39">
            <a:hlinkClick r:id="rId4" action="ppaction://hlinksldjump"/>
            <a:extLst>
              <a:ext uri="{FF2B5EF4-FFF2-40B4-BE49-F238E27FC236}">
                <a16:creationId xmlns:a16="http://schemas.microsoft.com/office/drawing/2014/main" id="{DD4DE13E-86B0-38F7-DD5B-CADF0F4DACC0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Num3">
            <a:extLst>
              <a:ext uri="{FF2B5EF4-FFF2-40B4-BE49-F238E27FC236}">
                <a16:creationId xmlns:a16="http://schemas.microsoft.com/office/drawing/2014/main" id="{346DE884-37B8-79B7-2F3A-549C121F887F}"/>
              </a:ext>
            </a:extLst>
          </p:cNvPr>
          <p:cNvSpPr txBox="1"/>
          <p:nvPr/>
        </p:nvSpPr>
        <p:spPr>
          <a:xfrm>
            <a:off x="5040830" y="29583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05</a:t>
            </a:r>
          </a:p>
        </p:txBody>
      </p:sp>
      <p:sp>
        <p:nvSpPr>
          <p:cNvPr id="43" name="Rectangle : coins arrondis 42">
            <a:hlinkClick r:id="rId5" action="ppaction://hlinksldjump"/>
            <a:extLst>
              <a:ext uri="{FF2B5EF4-FFF2-40B4-BE49-F238E27FC236}">
                <a16:creationId xmlns:a16="http://schemas.microsoft.com/office/drawing/2014/main" id="{4106C9EB-A1AD-8E26-08A4-CF506C903A12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 : coins arrondis 43">
            <a:hlinkClick r:id="rId3" action="ppaction://hlinksldjump"/>
            <a:extLst>
              <a:ext uri="{FF2B5EF4-FFF2-40B4-BE49-F238E27FC236}">
                <a16:creationId xmlns:a16="http://schemas.microsoft.com/office/drawing/2014/main" id="{8B1415AE-4373-B98D-5CC1-777EB7A7DF19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 : coins arrondis 44">
            <a:hlinkClick r:id="rId4" action="ppaction://hlinksldjump"/>
            <a:extLst>
              <a:ext uri="{FF2B5EF4-FFF2-40B4-BE49-F238E27FC236}">
                <a16:creationId xmlns:a16="http://schemas.microsoft.com/office/drawing/2014/main" id="{3D661B27-1233-ED7D-1E35-77B87720DD91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 : coins arrondis 45">
            <a:hlinkClick r:id="rId5" action="ppaction://hlinksldjump"/>
            <a:extLst>
              <a:ext uri="{FF2B5EF4-FFF2-40B4-BE49-F238E27FC236}">
                <a16:creationId xmlns:a16="http://schemas.microsoft.com/office/drawing/2014/main" id="{5B7194E3-50E8-F569-0561-FAD07B5CB20F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hlinkClick r:id="rId6" action="ppaction://hlinksldjump"/>
            <a:extLst>
              <a:ext uri="{FF2B5EF4-FFF2-40B4-BE49-F238E27FC236}">
                <a16:creationId xmlns:a16="http://schemas.microsoft.com/office/drawing/2014/main" id="{398A6225-C662-5788-E3F9-36A2218118E2}"/>
              </a:ext>
            </a:extLst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 : coins arrondis 47">
            <a:hlinkClick r:id="rId2" action="ppaction://hlinksldjump"/>
            <a:extLst>
              <a:ext uri="{FF2B5EF4-FFF2-40B4-BE49-F238E27FC236}">
                <a16:creationId xmlns:a16="http://schemas.microsoft.com/office/drawing/2014/main" id="{99A0202E-D875-C271-1194-D2FA8BE821ED}"/>
              </a:ext>
            </a:extLst>
          </p:cNvPr>
          <p:cNvSpPr/>
          <p:nvPr/>
        </p:nvSpPr>
        <p:spPr>
          <a:xfrm>
            <a:off x="5194897" y="45678"/>
            <a:ext cx="1019833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 : coins arrondis 40">
            <a:hlinkClick r:id="rId2" action="ppaction://hlinksldjump"/>
            <a:extLst>
              <a:ext uri="{FF2B5EF4-FFF2-40B4-BE49-F238E27FC236}">
                <a16:creationId xmlns:a16="http://schemas.microsoft.com/office/drawing/2014/main" id="{5BA44909-A4FF-F3B7-BC1A-3F12C5D40AFA}"/>
              </a:ext>
            </a:extLst>
          </p:cNvPr>
          <p:cNvSpPr/>
          <p:nvPr/>
        </p:nvSpPr>
        <p:spPr>
          <a:xfrm>
            <a:off x="5284791" y="29583"/>
            <a:ext cx="932996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021" name="A0Bg"/>
          <p:cNvSpPr/>
          <p:nvPr/>
        </p:nvSpPr>
        <p:spPr>
          <a:xfrm>
            <a:off x="220000" y="470000"/>
            <a:ext cx="7119675" cy="274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022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3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MINDSHARE</a:t>
            </a:r>
          </a:p>
        </p:txBody>
      </p:sp>
      <p:sp>
        <p:nvSpPr>
          <p:cNvPr id="21025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6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-11.0m$</a:t>
            </a:r>
          </a:p>
        </p:txBody>
      </p:sp>
      <p:sp>
        <p:nvSpPr>
          <p:cNvPr id="21027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8" name="A0C0Bg"/>
          <p:cNvSpPr/>
          <p:nvPr/>
        </p:nvSpPr>
        <p:spPr>
          <a:xfrm>
            <a:off x="440000" y="889000"/>
            <a:ext cx="2159891" cy="217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29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21030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31" name="A0C0E"/>
          <p:cNvSpPr txBox="1"/>
          <p:nvPr/>
        </p:nvSpPr>
        <p:spPr>
          <a:xfrm>
            <a:off x="530000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21032" name="A0C1Bg"/>
          <p:cNvSpPr/>
          <p:nvPr/>
        </p:nvSpPr>
        <p:spPr>
          <a:xfrm>
            <a:off x="2699891" y="889000"/>
            <a:ext cx="2159891" cy="217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33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21034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35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Inova Pharmaceutical</a:t>
            </a:r>
          </a:p>
        </p:txBody>
      </p:sp>
      <p:sp>
        <p:nvSpPr>
          <p:cNvPr id="21036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-5.0m</a:t>
            </a:r>
          </a:p>
        </p:txBody>
      </p:sp>
      <p:sp>
        <p:nvSpPr>
          <p:cNvPr id="21037" name="A0C1I1N"/>
          <p:cNvSpPr txBox="1"/>
          <p:nvPr/>
        </p:nvSpPr>
        <p:spPr>
          <a:xfrm>
            <a:off x="2789891" y="15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RAMUS</a:t>
            </a:r>
          </a:p>
        </p:txBody>
      </p:sp>
      <p:sp>
        <p:nvSpPr>
          <p:cNvPr id="21038" name="A0C1I2N"/>
          <p:cNvSpPr txBox="1"/>
          <p:nvPr/>
        </p:nvSpPr>
        <p:spPr>
          <a:xfrm>
            <a:off x="2789891" y="17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Prudential Wealth Mgmt</a:t>
            </a:r>
          </a:p>
        </p:txBody>
      </p:sp>
      <p:sp>
        <p:nvSpPr>
          <p:cNvPr id="21039" name="A0C1I3N"/>
          <p:cNvSpPr txBox="1"/>
          <p:nvPr/>
        </p:nvSpPr>
        <p:spPr>
          <a:xfrm>
            <a:off x="2789891" y="19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Advanced Pharmaceuticals</a:t>
            </a:r>
          </a:p>
        </p:txBody>
      </p:sp>
      <p:sp>
        <p:nvSpPr>
          <p:cNvPr id="21040" name="A0C1I4N"/>
          <p:cNvSpPr txBox="1"/>
          <p:nvPr/>
        </p:nvSpPr>
        <p:spPr>
          <a:xfrm>
            <a:off x="2789891" y="21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GLOBAL INTERNATIONAL</a:t>
            </a:r>
          </a:p>
        </p:txBody>
      </p:sp>
      <p:sp>
        <p:nvSpPr>
          <p:cNvPr id="21041" name="A0C1I5N"/>
          <p:cNvSpPr txBox="1"/>
          <p:nvPr/>
        </p:nvSpPr>
        <p:spPr>
          <a:xfrm>
            <a:off x="2789891" y="2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TROPICAL MAID</a:t>
            </a:r>
          </a:p>
        </p:txBody>
      </p:sp>
      <p:sp>
        <p:nvSpPr>
          <p:cNvPr id="21042" name="A0C1I6N"/>
          <p:cNvSpPr txBox="1"/>
          <p:nvPr/>
        </p:nvSpPr>
        <p:spPr>
          <a:xfrm>
            <a:off x="2789891" y="25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YOKO SPA</a:t>
            </a:r>
          </a:p>
        </p:txBody>
      </p:sp>
      <p:sp>
        <p:nvSpPr>
          <p:cNvPr id="21043" name="A0C1I7N"/>
          <p:cNvSpPr txBox="1"/>
          <p:nvPr/>
        </p:nvSpPr>
        <p:spPr>
          <a:xfrm>
            <a:off x="2789891" y="27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TAKING MED</a:t>
            </a:r>
          </a:p>
        </p:txBody>
      </p:sp>
      <p:sp>
        <p:nvSpPr>
          <p:cNvPr id="21044" name="A0C2Bg"/>
          <p:cNvSpPr/>
          <p:nvPr/>
        </p:nvSpPr>
        <p:spPr>
          <a:xfrm>
            <a:off x="4959782" y="889000"/>
            <a:ext cx="2159891" cy="217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45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21046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47" name="A0C2E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21048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  <p:sp>
        <p:nvSpPr>
          <p:cNvPr id="2" name="TrackerBg">
            <a:extLst>
              <a:ext uri="{FF2B5EF4-FFF2-40B4-BE49-F238E27FC236}">
                <a16:creationId xmlns:a16="http://schemas.microsoft.com/office/drawing/2014/main" id="{AA810529-46B3-BDBD-944C-45D967C6CF4E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>
            <a:extLst>
              <a:ext uri="{FF2B5EF4-FFF2-40B4-BE49-F238E27FC236}">
                <a16:creationId xmlns:a16="http://schemas.microsoft.com/office/drawing/2014/main" id="{0F56D851-A3B8-67CE-4481-723E416D3123}"/>
              </a:ext>
            </a:extLst>
          </p:cNvPr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>
            <a:extLst>
              <a:ext uri="{FF2B5EF4-FFF2-40B4-BE49-F238E27FC236}">
                <a16:creationId xmlns:a16="http://schemas.microsoft.com/office/drawing/2014/main" id="{5B007990-9321-E844-FB78-FEC61D99AA57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>
            <a:extLst>
              <a:ext uri="{FF2B5EF4-FFF2-40B4-BE49-F238E27FC236}">
                <a16:creationId xmlns:a16="http://schemas.microsoft.com/office/drawing/2014/main" id="{D9E850FE-7B15-0CCE-5C72-B63D25E7ECC9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>
            <a:extLst>
              <a:ext uri="{FF2B5EF4-FFF2-40B4-BE49-F238E27FC236}">
                <a16:creationId xmlns:a16="http://schemas.microsoft.com/office/drawing/2014/main" id="{03DF9D2C-98C2-ED77-84D3-EB584B8A2D87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>
            <a:extLst>
              <a:ext uri="{FF2B5EF4-FFF2-40B4-BE49-F238E27FC236}">
                <a16:creationId xmlns:a16="http://schemas.microsoft.com/office/drawing/2014/main" id="{6B2CE6CB-2276-F7C1-90FB-02356174AC07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>
            <a:extLst>
              <a:ext uri="{FF2B5EF4-FFF2-40B4-BE49-F238E27FC236}">
                <a16:creationId xmlns:a16="http://schemas.microsoft.com/office/drawing/2014/main" id="{1D2A58AF-463A-F91F-A729-B535DCFB60E7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>
            <a:extLst>
              <a:ext uri="{FF2B5EF4-FFF2-40B4-BE49-F238E27FC236}">
                <a16:creationId xmlns:a16="http://schemas.microsoft.com/office/drawing/2014/main" id="{AFF8E70D-8E0F-E3C8-0C6F-0570673B44D4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>
            <a:extLst>
              <a:ext uri="{FF2B5EF4-FFF2-40B4-BE49-F238E27FC236}">
                <a16:creationId xmlns:a16="http://schemas.microsoft.com/office/drawing/2014/main" id="{577EE518-B5E1-5E3D-D01E-81CC7CD07814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>
            <a:extLst>
              <a:ext uri="{FF2B5EF4-FFF2-40B4-BE49-F238E27FC236}">
                <a16:creationId xmlns:a16="http://schemas.microsoft.com/office/drawing/2014/main" id="{AD1AFA03-F471-F7A1-9008-E75ECF839D79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>
            <a:extLst>
              <a:ext uri="{FF2B5EF4-FFF2-40B4-BE49-F238E27FC236}">
                <a16:creationId xmlns:a16="http://schemas.microsoft.com/office/drawing/2014/main" id="{25CE8CEC-0707-422E-CD46-C187B18EC922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>
            <a:extLst>
              <a:ext uri="{FF2B5EF4-FFF2-40B4-BE49-F238E27FC236}">
                <a16:creationId xmlns:a16="http://schemas.microsoft.com/office/drawing/2014/main" id="{C926F1A1-5E35-8472-691C-677BC12B32C3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>
            <a:extLst>
              <a:ext uri="{FF2B5EF4-FFF2-40B4-BE49-F238E27FC236}">
                <a16:creationId xmlns:a16="http://schemas.microsoft.com/office/drawing/2014/main" id="{7202AB24-6765-9CF7-2998-95D5903DA58E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5" name="TLbl3">
            <a:extLst>
              <a:ext uri="{FF2B5EF4-FFF2-40B4-BE49-F238E27FC236}">
                <a16:creationId xmlns:a16="http://schemas.microsoft.com/office/drawing/2014/main" id="{ED7F6B6C-B944-E47F-CE21-F96D8B977D7C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>
            <a:extLst>
              <a:ext uri="{FF2B5EF4-FFF2-40B4-BE49-F238E27FC236}">
                <a16:creationId xmlns:a16="http://schemas.microsoft.com/office/drawing/2014/main" id="{77C7C6F8-7B8A-DFFE-F4EB-8F4A4BC8E11F}"/>
              </a:ext>
            </a:extLst>
          </p:cNvPr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" name="TLbl4">
            <a:extLst>
              <a:ext uri="{FF2B5EF4-FFF2-40B4-BE49-F238E27FC236}">
                <a16:creationId xmlns:a16="http://schemas.microsoft.com/office/drawing/2014/main" id="{8D090640-CF5C-D69D-FD5D-F28831D75579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>
            <a:extLst>
              <a:ext uri="{FF2B5EF4-FFF2-40B4-BE49-F238E27FC236}">
                <a16:creationId xmlns:a16="http://schemas.microsoft.com/office/drawing/2014/main" id="{9D20C55B-73EF-9254-1DC3-FECE7204401D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>
            <a:extLst>
              <a:ext uri="{FF2B5EF4-FFF2-40B4-BE49-F238E27FC236}">
                <a16:creationId xmlns:a16="http://schemas.microsoft.com/office/drawing/2014/main" id="{E1FEF8B8-D5B5-DDFC-9E39-F45F13345256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>
            <a:extLst>
              <a:ext uri="{FF2B5EF4-FFF2-40B4-BE49-F238E27FC236}">
                <a16:creationId xmlns:a16="http://schemas.microsoft.com/office/drawing/2014/main" id="{E7BADAD7-550E-6EF1-6ABD-5F207EA63027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Line">
            <a:extLst>
              <a:ext uri="{FF2B5EF4-FFF2-40B4-BE49-F238E27FC236}">
                <a16:creationId xmlns:a16="http://schemas.microsoft.com/office/drawing/2014/main" id="{A2C3D5B3-1A40-4BB8-B0E1-B34943D1769A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Sep1">
            <a:extLst>
              <a:ext uri="{FF2B5EF4-FFF2-40B4-BE49-F238E27FC236}">
                <a16:creationId xmlns:a16="http://schemas.microsoft.com/office/drawing/2014/main" id="{3BD95BB4-20F0-4319-635C-861B01B184A4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2">
            <a:extLst>
              <a:ext uri="{FF2B5EF4-FFF2-40B4-BE49-F238E27FC236}">
                <a16:creationId xmlns:a16="http://schemas.microsoft.com/office/drawing/2014/main" id="{C59A5657-E7E3-5E16-2A22-9128D2EE9536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3">
            <a:extLst>
              <a:ext uri="{FF2B5EF4-FFF2-40B4-BE49-F238E27FC236}">
                <a16:creationId xmlns:a16="http://schemas.microsoft.com/office/drawing/2014/main" id="{D42CCE62-1DA2-037A-0530-1A146ACB9227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Num0">
            <a:extLst>
              <a:ext uri="{FF2B5EF4-FFF2-40B4-BE49-F238E27FC236}">
                <a16:creationId xmlns:a16="http://schemas.microsoft.com/office/drawing/2014/main" id="{1028E4D5-A9BA-A997-4B69-DB5FE25863FC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6" name="TLbl0">
            <a:extLst>
              <a:ext uri="{FF2B5EF4-FFF2-40B4-BE49-F238E27FC236}">
                <a16:creationId xmlns:a16="http://schemas.microsoft.com/office/drawing/2014/main" id="{E2435F66-4EAA-1C9E-4ECE-3C977798F38B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7" name="TNum1">
            <a:extLst>
              <a:ext uri="{FF2B5EF4-FFF2-40B4-BE49-F238E27FC236}">
                <a16:creationId xmlns:a16="http://schemas.microsoft.com/office/drawing/2014/main" id="{F7108E8A-C42F-FECF-81A2-0A6BCE5444C9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8" name="TLbl1">
            <a:extLst>
              <a:ext uri="{FF2B5EF4-FFF2-40B4-BE49-F238E27FC236}">
                <a16:creationId xmlns:a16="http://schemas.microsoft.com/office/drawing/2014/main" id="{04321722-3241-5715-56B6-49C59F37467A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9" name="TNum2">
            <a:extLst>
              <a:ext uri="{FF2B5EF4-FFF2-40B4-BE49-F238E27FC236}">
                <a16:creationId xmlns:a16="http://schemas.microsoft.com/office/drawing/2014/main" id="{3D05FF5A-71B9-DE7A-C748-D770D444AC5B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0" name="TLbl2">
            <a:extLst>
              <a:ext uri="{FF2B5EF4-FFF2-40B4-BE49-F238E27FC236}">
                <a16:creationId xmlns:a16="http://schemas.microsoft.com/office/drawing/2014/main" id="{36F6E753-BDAA-AEDE-C1BE-784CFE9BC740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1" name="TNum3">
            <a:extLst>
              <a:ext uri="{FF2B5EF4-FFF2-40B4-BE49-F238E27FC236}">
                <a16:creationId xmlns:a16="http://schemas.microsoft.com/office/drawing/2014/main" id="{022BCFE6-6BD5-C9FA-1FC4-88A41E7B9CE4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32" name="TLbl3">
            <a:extLst>
              <a:ext uri="{FF2B5EF4-FFF2-40B4-BE49-F238E27FC236}">
                <a16:creationId xmlns:a16="http://schemas.microsoft.com/office/drawing/2014/main" id="{80C20A72-1F59-BCBE-6A57-1C19B14A1762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35" name="TrackerActive">
            <a:extLst>
              <a:ext uri="{FF2B5EF4-FFF2-40B4-BE49-F238E27FC236}">
                <a16:creationId xmlns:a16="http://schemas.microsoft.com/office/drawing/2014/main" id="{84518D81-BFCD-6021-4C27-20F55E1EAA81}"/>
              </a:ext>
            </a:extLst>
          </p:cNvPr>
          <p:cNvSpPr/>
          <p:nvPr/>
        </p:nvSpPr>
        <p:spPr>
          <a:xfrm>
            <a:off x="630031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5">
            <a:extLst>
              <a:ext uri="{FF2B5EF4-FFF2-40B4-BE49-F238E27FC236}">
                <a16:creationId xmlns:a16="http://schemas.microsoft.com/office/drawing/2014/main" id="{7652EAA8-BE7A-0630-84EE-789D35B18BBB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06</a:t>
            </a:r>
          </a:p>
        </p:txBody>
      </p:sp>
      <p:sp>
        <p:nvSpPr>
          <p:cNvPr id="37" name="TLbl5">
            <a:extLst>
              <a:ext uri="{FF2B5EF4-FFF2-40B4-BE49-F238E27FC236}">
                <a16:creationId xmlns:a16="http://schemas.microsoft.com/office/drawing/2014/main" id="{A8FCD056-F566-5DF7-DCC5-6E412BA14C8A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Details</a:t>
            </a:r>
          </a:p>
        </p:txBody>
      </p:sp>
      <p:sp>
        <p:nvSpPr>
          <p:cNvPr id="38" name="TrackerSep3">
            <a:extLst>
              <a:ext uri="{FF2B5EF4-FFF2-40B4-BE49-F238E27FC236}">
                <a16:creationId xmlns:a16="http://schemas.microsoft.com/office/drawing/2014/main" id="{E808E972-A38A-3302-DB68-75A67DAD230F}"/>
              </a:ext>
            </a:extLst>
          </p:cNvPr>
          <p:cNvSpPr>
            <a:spLocks noGrp="1"/>
          </p:cNvSpPr>
          <p:nvPr/>
        </p:nvSpPr>
        <p:spPr>
          <a:xfrm rot="5400000">
            <a:off x="4996048" y="2994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Rectangle : coins arrondis 38">
            <a:hlinkClick r:id="rId3" action="ppaction://hlinksldjump"/>
            <a:extLst>
              <a:ext uri="{FF2B5EF4-FFF2-40B4-BE49-F238E27FC236}">
                <a16:creationId xmlns:a16="http://schemas.microsoft.com/office/drawing/2014/main" id="{DBC4AA37-AD9E-493D-D751-27F5341868BD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 : coins arrondis 39">
            <a:hlinkClick r:id="rId4" action="ppaction://hlinksldjump"/>
            <a:extLst>
              <a:ext uri="{FF2B5EF4-FFF2-40B4-BE49-F238E27FC236}">
                <a16:creationId xmlns:a16="http://schemas.microsoft.com/office/drawing/2014/main" id="{CD432387-B12E-4503-9A63-7106861BDE70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Num3">
            <a:extLst>
              <a:ext uri="{FF2B5EF4-FFF2-40B4-BE49-F238E27FC236}">
                <a16:creationId xmlns:a16="http://schemas.microsoft.com/office/drawing/2014/main" id="{6ED583AE-2C2F-C383-3C80-681527E39EB4}"/>
              </a:ext>
            </a:extLst>
          </p:cNvPr>
          <p:cNvSpPr txBox="1"/>
          <p:nvPr/>
        </p:nvSpPr>
        <p:spPr>
          <a:xfrm>
            <a:off x="5077125" y="22571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05</a:t>
            </a:r>
          </a:p>
        </p:txBody>
      </p:sp>
      <p:sp>
        <p:nvSpPr>
          <p:cNvPr id="43" name="TLbl3">
            <a:extLst>
              <a:ext uri="{FF2B5EF4-FFF2-40B4-BE49-F238E27FC236}">
                <a16:creationId xmlns:a16="http://schemas.microsoft.com/office/drawing/2014/main" id="{0263774C-7757-5460-8842-C5427AE08937}"/>
              </a:ext>
            </a:extLst>
          </p:cNvPr>
          <p:cNvSpPr txBox="1"/>
          <p:nvPr/>
        </p:nvSpPr>
        <p:spPr>
          <a:xfrm>
            <a:off x="5107125" y="167571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Retentions</a:t>
            </a:r>
          </a:p>
        </p:txBody>
      </p:sp>
      <p:sp>
        <p:nvSpPr>
          <p:cNvPr id="44" name="Rectangle : coins arrondis 43">
            <a:hlinkClick r:id="rId5" action="ppaction://hlinksldjump"/>
            <a:extLst>
              <a:ext uri="{FF2B5EF4-FFF2-40B4-BE49-F238E27FC236}">
                <a16:creationId xmlns:a16="http://schemas.microsoft.com/office/drawing/2014/main" id="{0D54A067-97C5-766E-D845-8E2EAEFFF05F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 : coins arrondis 44">
            <a:hlinkClick r:id="rId3" action="ppaction://hlinksldjump"/>
            <a:extLst>
              <a:ext uri="{FF2B5EF4-FFF2-40B4-BE49-F238E27FC236}">
                <a16:creationId xmlns:a16="http://schemas.microsoft.com/office/drawing/2014/main" id="{6DE5518F-9B3A-2147-8D78-26922C60470C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 : coins arrondis 45">
            <a:hlinkClick r:id="rId4" action="ppaction://hlinksldjump"/>
            <a:extLst>
              <a:ext uri="{FF2B5EF4-FFF2-40B4-BE49-F238E27FC236}">
                <a16:creationId xmlns:a16="http://schemas.microsoft.com/office/drawing/2014/main" id="{429B7FEC-1102-A1D1-AD4F-DE19FECF8130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hlinkClick r:id="rId5" action="ppaction://hlinksldjump"/>
            <a:extLst>
              <a:ext uri="{FF2B5EF4-FFF2-40B4-BE49-F238E27FC236}">
                <a16:creationId xmlns:a16="http://schemas.microsoft.com/office/drawing/2014/main" id="{E837551C-0557-1207-3A36-3482AED26921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 : coins arrondis 47">
            <a:hlinkClick r:id="rId6" action="ppaction://hlinksldjump"/>
            <a:extLst>
              <a:ext uri="{FF2B5EF4-FFF2-40B4-BE49-F238E27FC236}">
                <a16:creationId xmlns:a16="http://schemas.microsoft.com/office/drawing/2014/main" id="{7275F832-740A-2EF0-7646-A94F07947A58}"/>
              </a:ext>
            </a:extLst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hlinkClick r:id="rId2" action="ppaction://hlinksldjump"/>
            <a:extLst>
              <a:ext uri="{FF2B5EF4-FFF2-40B4-BE49-F238E27FC236}">
                <a16:creationId xmlns:a16="http://schemas.microsoft.com/office/drawing/2014/main" id="{B90CB72D-691A-7944-96D5-B34E583E8CB6}"/>
              </a:ext>
            </a:extLst>
          </p:cNvPr>
          <p:cNvSpPr/>
          <p:nvPr/>
        </p:nvSpPr>
        <p:spPr>
          <a:xfrm>
            <a:off x="5194897" y="45678"/>
            <a:ext cx="1019833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2C7A9EA-FACB-41BD-8931-B5EF3498268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96bff61-1132-46bc-9650-a95bc6f889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2547</Words>
  <Application>Microsoft Office PowerPoint</Application>
  <PresentationFormat>Personnalisé</PresentationFormat>
  <Paragraphs>1036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RECMA-NEWBIZ</dc:title>
  <dc:creator>Pierre-Louis</dc:creator>
  <cp:lastModifiedBy>Pierre-Louis LEBRUN</cp:lastModifiedBy>
  <cp:revision>1295</cp:revision>
  <cp:lastPrinted>2022-11-28T18:43:31Z</cp:lastPrinted>
  <dcterms:created xsi:type="dcterms:W3CDTF">2018-01-08T14:36:25Z</dcterms:created>
  <dcterms:modified xsi:type="dcterms:W3CDTF">2026-04-21T09:08:01Z</dcterms:modified>
</cp:coreProperties>
</file>